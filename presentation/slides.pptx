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notesMasters/notesMaster1.xml" ContentType="application/vnd.openxmlformats-officedocument.presentationml.notesMaster+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notesMaster" Target="notesMasters/notesMaster1.xml" /><Relationship Id="rId24" Type="http://schemas.openxmlformats.org/officeDocument/2006/relationships/viewProps" Target="viewProps.xml" /><Relationship Id="rId23" Type="http://schemas.openxmlformats.org/officeDocument/2006/relationships/presProps" Target="presProps.xml" /><Relationship Id="rId1" Type="http://schemas.openxmlformats.org/officeDocument/2006/relationships/slideMaster" Target="slideMasters/slideMaster1.xml" /><Relationship Id="rId26" Type="http://schemas.openxmlformats.org/officeDocument/2006/relationships/tableStyles" Target="tableStyles.xml" /><Relationship Id="rId25" Type="http://schemas.openxmlformats.org/officeDocument/2006/relationships/theme" Target="theme/theme1.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1/2/22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2.xml.rels><?xml version="1.0" encoding="UTF-8"?><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3.xml.rels><?xml version="1.0" encoding="UTF-8"?><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4.xml.rels><?xml version="1.0" encoding="UTF-8"?><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5.xml.rels><?xml version="1.0" encoding="UTF-8"?><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6.xml.rels><?xml version="1.0" encoding="UTF-8"?><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7.xml.rels><?xml version="1.0" encoding="UTF-8"?><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8.xml.rels><?xml version="1.0" encoding="UTF-8"?><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9.xml.rels><?xml version="1.0" encoding="UTF-8"?><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_rels/notesSlide10.xml.rels><?xml version="1.0" encoding="UTF-8"?><Relationships xmlns="http://schemas.openxmlformats.org/package/2006/relationships"><Relationship Id="rId2" Type="http://schemas.openxmlformats.org/officeDocument/2006/relationships/slide" Target="../slides/slide13.xml" /><Relationship Id="rId1" Type="http://schemas.openxmlformats.org/officeDocument/2006/relationships/notesMaster" Target="../notesMasters/notesMaster1.xml" /></Relationships>
</file>

<file path=ppt/notesSlides/_rels/notesSlide11.xml.rels><?xml version="1.0" encoding="UTF-8"?><Relationships xmlns="http://schemas.openxmlformats.org/package/2006/relationships"><Relationship Id="rId2" Type="http://schemas.openxmlformats.org/officeDocument/2006/relationships/slide" Target="../slides/slide14.xml" /><Relationship Id="rId1" Type="http://schemas.openxmlformats.org/officeDocument/2006/relationships/notesMaster" Target="../notesMasters/notesMaster1.xml" /></Relationships>
</file>

<file path=ppt/notesSlides/_rels/notesSlide12.xml.rels><?xml version="1.0" encoding="UTF-8"?><Relationships xmlns="http://schemas.openxmlformats.org/package/2006/relationships"><Relationship Id="rId2" Type="http://schemas.openxmlformats.org/officeDocument/2006/relationships/slide" Target="../slides/slide15.xml" /><Relationship Id="rId1" Type="http://schemas.openxmlformats.org/officeDocument/2006/relationships/notesMaster" Target="../notesMasters/notesMaster1.xml" /></Relationships>
</file>

<file path=ppt/notesSlides/_rels/notesSlide13.xml.rels><?xml version="1.0" encoding="UTF-8"?><Relationships xmlns="http://schemas.openxmlformats.org/package/2006/relationships"><Relationship Id="rId2" Type="http://schemas.openxmlformats.org/officeDocument/2006/relationships/slide" Target="../slides/slide16.xml" /><Relationship Id="rId1" Type="http://schemas.openxmlformats.org/officeDocument/2006/relationships/notesMaster" Target="../notesMasters/notesMaster1.xml" /></Relationships>
</file>

<file path=ppt/notesSlides/_rels/notesSlide14.xml.rels><?xml version="1.0" encoding="UTF-8"?><Relationships xmlns="http://schemas.openxmlformats.org/package/2006/relationships"><Relationship Id="rId2" Type="http://schemas.openxmlformats.org/officeDocument/2006/relationships/slide" Target="../slides/slide17.xml" /><Relationship Id="rId1" Type="http://schemas.openxmlformats.org/officeDocument/2006/relationships/notesMaster" Target="../notesMasters/notesMaster1.xml" /></Relationships>
</file>

<file path=ppt/notesSlides/_rels/notesSlide15.xml.rels><?xml version="1.0" encoding="UTF-8"?><Relationships xmlns="http://schemas.openxmlformats.org/package/2006/relationships"><Relationship Id="rId2" Type="http://schemas.openxmlformats.org/officeDocument/2006/relationships/slide" Target="../slides/slide18.xml" /><Relationship Id="rId1" Type="http://schemas.openxmlformats.org/officeDocument/2006/relationships/notesMaster" Target="../notesMasters/notesMaster1.xml" /></Relationships>
</file>

<file path=ppt/notesSlides/_rels/notesSlide16.xml.rels><?xml version="1.0" encoding="UTF-8"?><Relationships xmlns="http://schemas.openxmlformats.org/package/2006/relationships"><Relationship Id="rId2" Type="http://schemas.openxmlformats.org/officeDocument/2006/relationships/slide" Target="../slides/slide19.xml" /><Relationship Id="rId1" Type="http://schemas.openxmlformats.org/officeDocument/2006/relationships/notesMaster" Target="../notesMasters/notesMaster1.xml" /></Relationships>
</file>

<file path=ppt/notesSlides/_rels/notesSlide17.xml.rels><?xml version="1.0" encoding="UTF-8"?><Relationships xmlns="http://schemas.openxmlformats.org/package/2006/relationships"><Relationship Id="rId2" Type="http://schemas.openxmlformats.org/officeDocument/2006/relationships/slide" Target="../slides/slide20.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a sampler — three additional ARC-AGI-2 tasks so the audience sees that the benchmark is not one trick. Don’t try to solve any of these out loud — that eats too much time. Just point at each in turn (~5 seconds each) and characterize them briefly: “shapes colored by a legend,” “objects completed or repaired,” “objects aligned across backgrounds.” Land the punchline: every task has a fresh rule the model has never seen. You have ~40 seconds total for this slide before moving on to the formal definition on the next slide.</a:t>
            </a:r>
          </a:p>
        </p:txBody>
      </p:sp>
      <p:sp>
        <p:nvSpPr>
          <p:cNvPr id="4" name="Slide Number Placeholder 3"/>
          <p:cNvSpPr>
            <a:spLocks noGrp="1"/>
          </p:cNvSpPr>
          <p:nvPr>
            <p:ph type="sldNum" sz="quarter" idx="10"/>
          </p:nvPr>
        </p:nvSpPr>
        <p:spPr/>
        <p:txBody>
          <a:bodyPr/>
          <a:lstStyle/>
          <a:p>
            <a:fld id="{18BDFEC3-8487-43E8-A154-7C12CBC1FFF2}" type="slidenum">
              <a:rPr lang="en-US"/>
              <a:t>2</a:t>
            </a:fld>
            <a:endParaRPr lang="en-US"/>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slide formalizes the protocol. The JSON example shows the audience exactly what the model receives — a list of train pairs and a test input — and what it returns (a grid). Don’t read the JSON line-by-line; just point at it. The right column carries the load: pass@2, the public-vs-private split, and cost-as-metric. Emphasize that the official scoring is done end-to-end by the foundation on tasks the developer never sees — this is what makes the benchmark hard to game.</a:t>
            </a:r>
          </a:p>
        </p:txBody>
      </p:sp>
      <p:sp>
        <p:nvSpPr>
          <p:cNvPr id="4" name="Slide Number Placeholder 3"/>
          <p:cNvSpPr>
            <a:spLocks noGrp="1"/>
          </p:cNvSpPr>
          <p:nvPr>
            <p:ph type="sldNum" sz="quarter" idx="10"/>
          </p:nvPr>
        </p:nvSpPr>
        <p:spPr/>
        <p:txBody>
          <a:bodyPr/>
          <a:lstStyle/>
          <a:p>
            <a:fld id="{18BDFEC3-8487-43E8-A154-7C12CBC1FFF2}" type="slidenum">
              <a:rPr lang="en-US"/>
              <a:t>3</a:t>
            </a:fld>
            <a:endParaRPr lang="en-US"/>
          </a:p>
        </p:txBody>
      </p:sp>
    </p:spTree>
  </p:cSld>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Anchor early — audience now knows there’s a real result behind the method talk. Be honest about cost: this spends more than a single model call. The contribution is the architectural pattern, not the absolute leaderboard number — those move weekly. Pivot to the next slide with the question: how does an orchestration system beat a frontier model by 18 points?</a:t>
            </a:r>
          </a:p>
        </p:txBody>
      </p:sp>
      <p:sp>
        <p:nvSpPr>
          <p:cNvPr id="4" name="Slide Number Placeholder 3"/>
          <p:cNvSpPr>
            <a:spLocks noGrp="1"/>
          </p:cNvSpPr>
          <p:nvPr>
            <p:ph type="sldNum" sz="quarter" idx="10"/>
          </p:nvPr>
        </p:nvSpPr>
        <p:spPr/>
        <p:txBody>
          <a:bodyPr/>
          <a:lstStyle/>
          <a:p>
            <a:fld id="{18BDFEC3-8487-43E8-A154-7C12CBC1FFF2}" type="slidenum">
              <a:rPr lang="en-US"/>
              <a:t>4</a:t>
            </a:fld>
            <a:endParaRPr lang="en-US"/>
          </a:p>
        </p:txBody>
      </p:sp>
    </p:spTree>
  </p:cSld>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architecture has to solve two problems, not one. First: counter the groupthink — left to themselves, frontier models cluster on the same wrong interpretation, so the system has to deliberately diversify generation. Second: even when a correct candidate does exist in the pool, majority voting will discard it as an outlier — so selection has to read the reasoning, not just count votes. Concrete number to drop: of our 39 failure instances, 21 are genuine generation failures and 17 are </a:t>
            </a:r>
            <a:r>
              <a:rPr i="1"/>
              <a:t>selection</a:t>
            </a:r>
            <a:r>
              <a:rPr/>
              <a:t> failures where a correct candidate exists in the pool but is not chosen. The two failure modes are roughly the same size — neither dominates.</a:t>
            </a:r>
          </a:p>
        </p:txBody>
      </p:sp>
      <p:sp>
        <p:nvSpPr>
          <p:cNvPr id="4" name="Slide Number Placeholder 3"/>
          <p:cNvSpPr>
            <a:spLocks noGrp="1"/>
          </p:cNvSpPr>
          <p:nvPr>
            <p:ph type="sldNum" sz="quarter" idx="10"/>
          </p:nvPr>
        </p:nvSpPr>
        <p:spPr/>
        <p:txBody>
          <a:bodyPr/>
          <a:lstStyle/>
          <a:p>
            <a:fld id="{18BDFEC3-8487-43E8-A154-7C12CBC1FFF2}" type="slidenum">
              <a:rPr lang="en-US"/>
              <a:t>5</a:t>
            </a:fld>
            <a:endParaRPr lang="en-US"/>
          </a:p>
        </p:txBody>
      </p:sp>
    </p:spTree>
  </p:cSld>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the slide the audience should remember. Slow down. Use the word “operator” deliberately — frame it like classic AI search: each modality expands a different part of the hypothesis space. Concrete intuition: a model reading grids as numbers may notice arithmetic patterns vision misses; a code-writing pass forces a constructive rule the others can leave implicit. Promise the demo on slide 8.</a:t>
            </a:r>
          </a:p>
        </p:txBody>
      </p:sp>
      <p:sp>
        <p:nvSpPr>
          <p:cNvPr id="4" name="Slide Number Placeholder 3"/>
          <p:cNvSpPr>
            <a:spLocks noGrp="1"/>
          </p:cNvSpPr>
          <p:nvPr>
            <p:ph type="sldNum" sz="quarter" idx="10"/>
          </p:nvPr>
        </p:nvSpPr>
        <p:spPr/>
        <p:txBody>
          <a:bodyPr/>
          <a:lstStyle/>
          <a:p>
            <a:fld id="{18BDFEC3-8487-43E8-A154-7C12CBC1FFF2}" type="slidenum">
              <a:rPr lang="en-US"/>
              <a:t>6</a:t>
            </a:fld>
            <a:endParaRPr lang="en-US"/>
          </a:p>
        </p:txBody>
      </p:sp>
    </p:spTree>
  </p:cSld>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Don’t list every configuration — the point is the structure: three families crossed with three models. The “minimal prompts” bullet is a callback you’ll cash in on the negative-results slide.</a:t>
            </a:r>
          </a:p>
        </p:txBody>
      </p:sp>
      <p:sp>
        <p:nvSpPr>
          <p:cNvPr id="4" name="Slide Number Placeholder 3"/>
          <p:cNvSpPr>
            <a:spLocks noGrp="1"/>
          </p:cNvSpPr>
          <p:nvPr>
            <p:ph type="sldNum" sz="quarter" idx="10"/>
          </p:nvPr>
        </p:nvSpPr>
        <p:spPr/>
        <p:txBody>
          <a:bodyPr/>
          <a:lstStyle/>
          <a:p>
            <a:fld id="{18BDFEC3-8487-43E8-A154-7C12CBC1FFF2}" type="slidenum">
              <a:rPr lang="en-US"/>
              <a:t>7</a:t>
            </a:fld>
            <a:endParaRPr lang="en-US"/>
          </a:p>
        </p:txBody>
      </p:sp>
    </p:spTree>
  </p:cSld>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+7 number is the empirical payoff of the architecture. Say it slowly. The synthesis case is </a:t>
            </a:r>
            <a:r>
              <a:rPr i="1"/>
              <a:t>qualitatively</a:t>
            </a:r>
            <a:r>
              <a:rPr/>
              <a:t> different — it shows the system can sometimes </a:t>
            </a:r>
            <a:r>
              <a:rPr i="1"/>
              <a:t>construct</a:t>
            </a:r>
            <a:r>
              <a:rPr/>
              <a:t> a correct answer rather than just </a:t>
            </a:r>
            <a:r>
              <a:rPr i="1"/>
              <a:t>select</a:t>
            </a:r>
            <a:r>
              <a:rPr/>
              <a:t> one. Rare (n=1) but a proof-of-possibility for compositional repair. If time allows, quote the judge rationale from dfadab01:1: “Some solvers assume a stamp must fit fully. Others assume stamps are clipped at the border…” — shows the judge reasoning about disagreement explicitly.</a:t>
            </a:r>
          </a:p>
        </p:txBody>
      </p:sp>
      <p:sp>
        <p:nvSpPr>
          <p:cNvPr id="4" name="Slide Number Placeholder 3"/>
          <p:cNvSpPr>
            <a:spLocks noGrp="1"/>
          </p:cNvSpPr>
          <p:nvPr>
            <p:ph type="sldNum" sz="quarter" idx="10"/>
          </p:nvPr>
        </p:nvSpPr>
        <p:spPr/>
        <p:txBody>
          <a:bodyPr/>
          <a:lstStyle/>
          <a:p>
            <a:fld id="{18BDFEC3-8487-43E8-A154-7C12CBC1FFF2}" type="slidenum">
              <a:rPr lang="en-US"/>
              <a:t>8</a:t>
            </a:fld>
            <a:endParaRPr lang="en-US"/>
          </a:p>
        </p:txBody>
      </p:sp>
    </p:spTree>
  </p:cSld>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One pass through the diagram, max 50 seconds. Audience just needs the shape. Highlight: judges see </a:t>
            </a:r>
            <a:r>
              <a:rPr i="1"/>
              <a:t>full reasoning traces</a:t>
            </a:r>
            <a:r>
              <a:rPr/>
              <a:t>, not just final answers — this is what enables minority recovery. Mention early-stop to pre-empt the obvious cost objection.</a:t>
            </a:r>
          </a:p>
        </p:txBody>
      </p:sp>
      <p:sp>
        <p:nvSpPr>
          <p:cNvPr id="4" name="Slide Number Placeholder 3"/>
          <p:cNvSpPr>
            <a:spLocks noGrp="1"/>
          </p:cNvSpPr>
          <p:nvPr>
            <p:ph type="sldNum" sz="quarter" idx="10"/>
          </p:nvPr>
        </p:nvSpPr>
        <p:spPr/>
        <p:txBody>
          <a:bodyPr/>
          <a:lstStyle/>
          <a:p>
            <a:fld id="{18BDFEC3-8487-43E8-A154-7C12CBC1FFF2}" type="slidenum">
              <a:rPr lang="en-US"/>
              <a:t>9</a:t>
            </a:fld>
            <a:endParaRPr lang="en-US"/>
          </a:p>
        </p:txBody>
      </p:sp>
    </p:spTree>
  </p:cSld>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A success story. The submission got this task right: 28 of 29 candidates wrong, but the holistic judges identified the one correct image-prompt candidate. Four train pairs all reducing to a nested-frame output determined by the topology of the winding path. Selection layer recovered the rare correct one — what majority voting cannot do. One of the +7 minority recoveries from the holistic-judging ablation.</a:t>
            </a:r>
          </a:p>
        </p:txBody>
      </p:sp>
      <p:sp>
        <p:nvSpPr>
          <p:cNvPr id="4" name="Slide Number Placeholder 3"/>
          <p:cNvSpPr>
            <a:spLocks noGrp="1"/>
          </p:cNvSpPr>
          <p:nvPr>
            <p:ph type="sldNum" sz="quarter" idx="10"/>
          </p:nvPr>
        </p:nvSpPr>
        <p:spPr/>
        <p:txBody>
          <a:bodyPr/>
          <a:lstStyle/>
          <a:p>
            <a:fld id="{18BDFEC3-8487-43E8-A154-7C12CBC1FFF2}" type="slidenum">
              <a:rPr lang="en-US"/>
              <a:t>10</a:t>
            </a:fld>
            <a:endParaRPr lang="en-US"/>
          </a:p>
        </p:txBody>
      </p:sp>
    </p:spTree>
  </p:cSld>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Payoff slide for the judging architecture. Excerpts are verbatim from the logged run. Left: the winning image candidate reasoned about “frames vs markers” and “topological normalization” — the model’s own language, not a forced template. Right: the judge independently arrived at the same mechanic and named the rare-correct candidate “Solution 10” while keeping “Solution 6/7” as the safer pass@2 fallback. Three independent judges all picked the correct grid as #1 — full alignment. The point: the judge does not vote on outputs, it reads the reasoning of all 29 candidates and selects the trace whose argument is most coherent against the training pairs. That’s what makes minority recovery possible.</a:t>
            </a:r>
          </a:p>
        </p:txBody>
      </p:sp>
      <p:sp>
        <p:nvSpPr>
          <p:cNvPr id="4" name="Slide Number Placeholder 3"/>
          <p:cNvSpPr>
            <a:spLocks noGrp="1"/>
          </p:cNvSpPr>
          <p:nvPr>
            <p:ph type="sldNum" sz="quarter" idx="10"/>
          </p:nvPr>
        </p:nvSpPr>
        <p:spPr/>
        <p:txBody>
          <a:bodyPr/>
          <a:lstStyle/>
          <a:p>
            <a:fld id="{18BDFEC3-8487-43E8-A154-7C12CBC1FFF2}" type="slidenum">
              <a:rPr lang="en-US"/>
              <a:t>13</a:t>
            </a:fld>
            <a:endParaRPr lang="en-US"/>
          </a:p>
        </p:txBody>
      </p:sp>
    </p:spTree>
  </p:cSld>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chart is dense — spend the first 20s teaching the audience how to read it. Point at the top band (“look at these rows: green across the board — easy tasks”), then the middle band (“but </a:t>
            </a:r>
            <a:r>
              <a:rPr i="1"/>
              <a:t>here</a:t>
            </a:r>
            <a:r>
              <a:rPr/>
              <a:t> — mostly red rows with only one or two green cells. That’s modality diversity doing the work”), then the bottom (“and these are the generation failures — no modality solved them”). The 86.2% oracle number is the most honest framing of the system’s ceiling: generation is in good shape; selection is the next frontier. Tie back: of the 39 failures, 17 are </a:t>
            </a:r>
            <a:r>
              <a:rPr i="1"/>
              <a:t>selection</a:t>
            </a:r>
            <a:r>
              <a:rPr/>
              <a:t> — that’s where the headroom is.</a:t>
            </a:r>
          </a:p>
        </p:txBody>
      </p:sp>
      <p:sp>
        <p:nvSpPr>
          <p:cNvPr id="4" name="Slide Number Placeholder 3"/>
          <p:cNvSpPr>
            <a:spLocks noGrp="1"/>
          </p:cNvSpPr>
          <p:nvPr>
            <p:ph type="sldNum" sz="quarter" idx="10"/>
          </p:nvPr>
        </p:nvSpPr>
        <p:spPr/>
        <p:txBody>
          <a:bodyPr/>
          <a:lstStyle/>
          <a:p>
            <a:fld id="{18BDFEC3-8487-43E8-A154-7C12CBC1FFF2}" type="slidenum">
              <a:rPr lang="en-US"/>
              <a:t>14</a:t>
            </a:fld>
            <a:endParaRPr lang="en-US"/>
          </a:p>
        </p:txBody>
      </p:sp>
    </p:spTree>
  </p:cSld>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Most counter-intuitive findings in the paper — audiences love negative results because they save them time. Frame these as design constraints we discovered the hard way: every time we added “helpful” structure, scores dropped on the tasks that mattered. (1) and (2) are the big two — spend more time there. (3) is a useful counterpoint to anyone who’s spent six months building a multi-stage agent. (4) will surprise the LLM-engineering audience used to JSON-mode being a default. (5) is the most visually intuitive — mention that we render the grids with intentional jitter, like a hand-drawn sketch, because pixel-perfect renderings made the model treat the image as a lossless encoding and fall back on numerical reasoning instead of visual.</a:t>
            </a:r>
          </a:p>
        </p:txBody>
      </p:sp>
      <p:sp>
        <p:nvSpPr>
          <p:cNvPr id="4" name="Slide Number Placeholder 3"/>
          <p:cNvSpPr>
            <a:spLocks noGrp="1"/>
          </p:cNvSpPr>
          <p:nvPr>
            <p:ph type="sldNum" sz="quarter" idx="10"/>
          </p:nvPr>
        </p:nvSpPr>
        <p:spPr/>
        <p:txBody>
          <a:bodyPr/>
          <a:lstStyle/>
          <a:p>
            <a:fld id="{18BDFEC3-8487-43E8-A154-7C12CBC1FFF2}" type="slidenum">
              <a:rPr lang="en-US"/>
              <a:t>15</a:t>
            </a:fld>
            <a:endParaRPr lang="en-US"/>
          </a:p>
        </p:txBody>
      </p:sp>
    </p:spTree>
  </p:cSld>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Close strong on the generalization claim. Pause on the headline and let it land. Recap (1) and (2). Key clarification on “where this generalizes”: this is </a:t>
            </a:r>
            <a:r>
              <a:rPr i="1"/>
              <a:t>not</a:t>
            </a:r>
            <a:r>
              <a:rPr/>
              <a:t> only for problems with checkable answers. It also works whenever the reasoning itself carries credible signal — as in ARC, where the judges never see the test output and instead assess each trace’s coherence against the training pairs. The audience should think about applying this anywhere a careful reader could tell sound reasoning from rationalization: code review, legal arguments, scientific hypotheses, design critiques. The closing number reminds them this isn’t speculative: verified result, almost 20 points over the best standalone model. Then invite questions.</a:t>
            </a:r>
          </a:p>
        </p:txBody>
      </p:sp>
      <p:sp>
        <p:nvSpPr>
          <p:cNvPr id="4" name="Slide Number Placeholder 3"/>
          <p:cNvSpPr>
            <a:spLocks noGrp="1"/>
          </p:cNvSpPr>
          <p:nvPr>
            <p:ph type="sldNum" sz="quarter" idx="10"/>
          </p:nvPr>
        </p:nvSpPr>
        <p:spPr/>
        <p:txBody>
          <a:bodyPr/>
          <a:lstStyle/>
          <a:p>
            <a:fld id="{18BDFEC3-8487-43E8-A154-7C12CBC1FFF2}" type="slidenum">
              <a:rPr lang="en-US"/>
              <a:t>16</a:t>
            </a:fld>
            <a:endParaRPr lang="en-US"/>
          </a:p>
        </p:txBody>
      </p:sp>
    </p:spTree>
  </p:cSld>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the pedagogical heart of the talk. Don’t rush. Budget 2:30.</a:t>
            </a:r>
          </a:p>
          <a:p>
            <a:pPr lvl="0" indent="0" marL="0">
              <a:buNone/>
            </a:pPr>
          </a:p>
          <a:p>
            <a:pPr lvl="0" indent="0" marL="0">
              <a:buNone/>
            </a:pPr>
            <a:r>
              <a:rPr/>
              <a:t>Script: (0:30) Show the task; let the audience attempt it mentally. (0:30) Show what TEXT candidates produce — note the dominant (wrong) interpretation. (0:30) Show what IMAGE candidates produce — note where they diverge from Text. (0:30) Show what CODE candidates produce — note any structurally different hypothesis. (0:30) Reveal the judge’s reasoning: which cluster it rejected, which minority it elevated, why pass@2 lets it hedge.</a:t>
            </a:r>
          </a:p>
          <a:p>
            <a:pPr lvl="0" indent="0" marL="0">
              <a:buNone/>
            </a:pPr>
          </a:p>
          <a:p>
            <a:pPr lvl="0" indent="0" marL="0">
              <a:buNone/>
            </a:pPr>
            <a:r>
              <a:rPr/>
              <a:t>If tight on time, drop the IMAGE step and go Text → Code → Judge — the contrast is sharpest there. End with: “This is what ‘modalities as search operators’ looks like in practice.”</a:t>
            </a:r>
          </a:p>
        </p:txBody>
      </p:sp>
      <p:sp>
        <p:nvSpPr>
          <p:cNvPr id="4" name="Slide Number Placeholder 3"/>
          <p:cNvSpPr>
            <a:spLocks noGrp="1"/>
          </p:cNvSpPr>
          <p:nvPr>
            <p:ph type="sldNum" sz="quarter" idx="10"/>
          </p:nvPr>
        </p:nvSpPr>
        <p:spPr/>
        <p:txBody>
          <a:bodyPr/>
          <a:lstStyle/>
          <a:p>
            <a:fld id="{18BDFEC3-8487-43E8-A154-7C12CBC1FFF2}" type="slidenum">
              <a:rPr lang="en-US"/>
              <a:t>17</a:t>
            </a:fld>
            <a:endParaRPr lang="en-US"/>
          </a:p>
        </p:txBody>
      </p:sp>
    </p:spTree>
  </p:cSld>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Backup only. Skip unless asked.</a:t>
            </a:r>
          </a:p>
        </p:txBody>
      </p:sp>
      <p:sp>
        <p:nvSpPr>
          <p:cNvPr id="4" name="Slide Number Placeholder 3"/>
          <p:cNvSpPr>
            <a:spLocks noGrp="1"/>
          </p:cNvSpPr>
          <p:nvPr>
            <p:ph type="sldNum" sz="quarter" idx="10"/>
          </p:nvPr>
        </p:nvSpPr>
        <p:spPr/>
        <p:txBody>
          <a:bodyPr/>
          <a:lstStyle/>
          <a:p>
            <a:fld id="{18BDFEC3-8487-43E8-A154-7C12CBC1FFF2}" type="slidenum">
              <a:rPr lang="en-US"/>
              <a:t>18</a:t>
            </a:fld>
            <a:endParaRPr lang="en-US"/>
          </a:p>
        </p:txBody>
      </p:sp>
    </p:spTree>
  </p:cSld>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Backup only. Skip unless asked.</a:t>
            </a:r>
          </a:p>
        </p:txBody>
      </p:sp>
      <p:sp>
        <p:nvSpPr>
          <p:cNvPr id="4" name="Slide Number Placeholder 3"/>
          <p:cNvSpPr>
            <a:spLocks noGrp="1"/>
          </p:cNvSpPr>
          <p:nvPr>
            <p:ph type="sldNum" sz="quarter" idx="10"/>
          </p:nvPr>
        </p:nvSpPr>
        <p:spPr/>
        <p:txBody>
          <a:bodyPr/>
          <a:lstStyle/>
          <a:p>
            <a:fld id="{18BDFEC3-8487-43E8-A154-7C12CBC1FFF2}" type="slidenum">
              <a:rPr lang="en-US"/>
              <a:t>19</a:t>
            </a:fld>
            <a:endParaRPr lang="en-US"/>
          </a:p>
        </p:txBody>
      </p:sp>
    </p:spTree>
  </p:cSld>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Backup only. Skip unless asked.</a:t>
            </a:r>
          </a:p>
        </p:txBody>
      </p:sp>
      <p:sp>
        <p:nvSpPr>
          <p:cNvPr id="4" name="Slide Number Placeholder 3"/>
          <p:cNvSpPr>
            <a:spLocks noGrp="1"/>
          </p:cNvSpPr>
          <p:nvPr>
            <p:ph type="sldNum" sz="quarter" idx="10"/>
          </p:nvPr>
        </p:nvSpPr>
        <p:spPr/>
        <p:txBody>
          <a:bodyPr/>
          <a:lstStyle/>
          <a:p>
            <a:fld id="{18BDFEC3-8487-43E8-A154-7C12CBC1FFF2}" type="slidenum">
              <a:rPr lang="en-US"/>
              <a:t>20</a:t>
            </a:fld>
            <a:endParaRPr lang="en-US"/>
          </a:p>
        </p:txBody>
      </p:sp>
    </p:spTree>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1.xml" /><Relationship Id="rId3" Type="http://schemas.openxmlformats.org/officeDocument/2006/relationships/image" Target="../media/image1.png" /></Relationships>
</file>

<file path=ppt/slides/_rels/slide3.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7.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8.xml" /><Relationship Id="rId3" Type="http://schemas.openxmlformats.org/officeDocument/2006/relationships/image" Target="../media/image2.png" /></Relationships>
</file>

<file path=ppt/slides/_rels/slide10.xml.rels><?xml version="1.0" encoding="UTF-8"?><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notesSlide" Target="../notesSlides/notesSlide9.xml" /><Relationship Id="rId3" Type="http://schemas.openxmlformats.org/officeDocument/2006/relationships/image" Target="../media/image3.png"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0.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11.xml" /><Relationship Id="rId3" Type="http://schemas.openxmlformats.org/officeDocument/2006/relationships/image" Target="../media/image4.png"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2.xml"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3.xml" /></Relationships>
</file>

<file path=ppt/slides/_rels/slide17.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14.xml" /><Relationship Id="rId3" Type="http://schemas.openxmlformats.org/officeDocument/2006/relationships/image" Target="../media/image5.png" /></Relationships>
</file>

<file path=ppt/slides/_rels/slide1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5.xml" /></Relationships>
</file>

<file path=ppt/slides/_rels/slide1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6.xml" /></Relationships>
</file>

<file path=ppt/slides/_rels/slide2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7.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Modality-Driven Search with Holistic Trace Judging for ARC-AGI-2</a:t>
            </a:r>
          </a:p>
        </p:txBody>
      </p:sp>
      <p:sp>
        <p:nvSpPr>
          <p:cNvPr id="3" name="Subtitle 2"/>
          <p:cNvSpPr>
            <a:spLocks noGrp="1"/>
          </p:cNvSpPr>
          <p:nvPr>
            <p:ph idx="1" type="subTitle"/>
          </p:nvPr>
        </p:nvSpPr>
        <p:spPr>
          <a:xfrm>
            <a:off x="1371600" y="2914650"/>
            <a:ext cx="6400800" cy="1314450"/>
          </a:xfrm>
        </p:spPr>
        <p:txBody>
          <a:bodyPr/>
          <a:lstStyle/>
          <a:p>
            <a:pPr lvl="0" indent="0" marL="0">
              <a:buNone/>
            </a:pPr>
            <a:r>
              <a:rPr/>
              <a:t>72.9% verified result, beating frontier models by ~20%</a:t>
            </a:r>
            <a:br/>
            <a:br/>
            <a:r>
              <a:rPr/>
              <a:t>Johan Land</a:t>
            </a:r>
          </a:p>
        </p:txBody>
      </p:sp>
      <p:sp>
        <p:nvSpPr>
          <p:cNvPr id="4" name="Date Placeholder 3"/>
          <p:cNvSpPr>
            <a:spLocks noGrp="1"/>
          </p:cNvSpPr>
          <p:nvPr>
            <p:ph idx="10" sz="half" type="dt"/>
          </p:nvPr>
        </p:nvSpPr>
        <p:spPr/>
        <p:txBody>
          <a:bodyPr/>
          <a:lstStyle/>
          <a:p>
            <a:pPr lvl="0" indent="0" marL="0">
              <a:buNone/>
            </a:pPr>
            <a:r>
              <a:rPr/>
              <a:t>ICAIBD 2026</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ARC-AGI-2 — a brief history, and two example problems</a:t>
            </a:r>
          </a:p>
        </p:txBody>
      </p:sp>
      <p:sp>
        <p:nvSpPr>
          <p:cNvPr id="3" name="Content Placeholder 2"/>
          <p:cNvSpPr>
            <a:spLocks noGrp="1"/>
          </p:cNvSpPr>
          <p:nvPr>
            <p:ph idx="1" sz="half"/>
          </p:nvPr>
        </p:nvSpPr>
        <p:spPr/>
        <p:txBody>
          <a:bodyPr/>
          <a:lstStyle/>
          <a:p>
            <a:pPr lvl="0"/>
            <a:r>
              <a:rPr b="1"/>
              <a:t>2019</a:t>
            </a:r>
            <a:r>
              <a:rPr/>
              <a:t> — ARC-AGI-1 introduced (Chollet); trivial for humans, impossible for AI at the time</a:t>
            </a:r>
          </a:p>
          <a:p>
            <a:pPr lvl="0"/>
            <a:r>
              <a:rPr b="1"/>
              <a:t>2020–2023</a:t>
            </a:r>
            <a:r>
              <a:rPr/>
              <a:t> — Program synthesis era; top scores reach ~20% on ARC-AGI-1</a:t>
            </a:r>
          </a:p>
          <a:p>
            <a:pPr lvl="0"/>
            <a:r>
              <a:rPr b="1"/>
              <a:t>Dec 2024</a:t>
            </a:r>
            <a:r>
              <a:rPr/>
              <a:t> — o3 saturates ARC-AGI-1 (~76% at $200/task), but only ~3% on ARC-AGI-2</a:t>
            </a:r>
          </a:p>
          <a:p>
            <a:pPr lvl="0"/>
            <a:r>
              <a:rPr b="1"/>
              <a:t>2025</a:t>
            </a:r>
            <a:r>
              <a:rPr/>
              <a:t> — Focus shifts to ARC-AGI-2; top scores climb to ~50% (GPT-5.2, Opus 4.5)</a:t>
            </a:r>
          </a:p>
          <a:p>
            <a:pPr lvl="0"/>
            <a:r>
              <a:rPr b="1"/>
              <a:t>Dec 2025</a:t>
            </a:r>
            <a:r>
              <a:rPr/>
              <a:t> — </a:t>
            </a:r>
            <a:r>
              <a:rPr b="1"/>
              <a:t>This work: 72.9% on ARC-AGI-2</a:t>
            </a:r>
            <a:r>
              <a:rPr/>
              <a:t>, first verified &gt;70%</a:t>
            </a:r>
          </a:p>
          <a:p>
            <a:pPr lvl="0"/>
            <a:r>
              <a:rPr b="1"/>
              <a:t>2026</a:t>
            </a:r>
            <a:r>
              <a:rPr/>
              <a:t> — Frontier models leapfrog to ~80%+ (GPT-5.5, Gemini 3.1 Deep Think, Opus 4.7); ARC-AGI-3 launches (&lt;1%)</a:t>
            </a:r>
          </a:p>
        </p:txBody>
      </p:sp>
      <p:pic>
        <p:nvPicPr>
          <p:cNvPr descr="figures/tasks_three_examples.png" id="0" name="Picture 1"/>
          <p:cNvPicPr>
            <a:picLocks noGrp="1" noChangeAspect="1"/>
          </p:cNvPicPr>
          <p:nvPr/>
        </p:nvPicPr>
        <p:blipFill>
          <a:blip r:embed="rId3"/>
          <a:stretch>
            <a:fillRect/>
          </a:stretch>
        </p:blipFill>
        <p:spPr bwMode="auto">
          <a:xfrm>
            <a:off x="4648200" y="1270000"/>
            <a:ext cx="4038600" cy="3238500"/>
          </a:xfrm>
          <a:prstGeom prst="rect">
            <a:avLst/>
          </a:prstGeom>
          <a:noFill/>
          <a:ln w="9525">
            <a:noFill/>
            <a:headEnd/>
            <a:tailEnd/>
          </a:ln>
        </p:spPr>
      </p:pic>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What is ARC-AGI-2? — format and evaluation</a:t>
            </a:r>
          </a:p>
        </p:txBody>
      </p:sp>
      <p:sp>
        <p:nvSpPr>
          <p:cNvPr id="3" name="Content Placeholder 2"/>
          <p:cNvSpPr>
            <a:spLocks noGrp="1"/>
          </p:cNvSpPr>
          <p:nvPr>
            <p:ph idx="1" sz="half"/>
          </p:nvPr>
        </p:nvSpPr>
        <p:spPr/>
        <p:txBody>
          <a:bodyPr/>
          <a:lstStyle/>
          <a:p>
            <a:pPr lvl="0" indent="0" marL="0">
              <a:buNone/>
            </a:pPr>
            <a:r>
              <a:rPr b="1"/>
              <a:t>What the model sees (JSON):</a:t>
            </a:r>
          </a:p>
          <a:p>
            <a:pPr lvl="0" indent="0">
              <a:buNone/>
            </a:pPr>
            <a:r>
              <a:rPr>
                <a:latin typeface="Courier"/>
              </a:rPr>
              <a:t>{
  "train": [
    {"input":  [[0,1,0],[1,0,1],[0,1,0]],
     "output": [[1,0,1],[0,1,0],[1,0,1]]},
    {"input":  [...], "output": [...]},
    ...
  ],
  "test": [
    {"input":  [[1,0,1],[0,1,0],[1,0,1]]}
  ]
}</a:t>
            </a:r>
          </a:p>
          <a:p>
            <a:pPr lvl="0" indent="0" marL="0">
              <a:buNone/>
            </a:pPr>
            <a:r>
              <a:rPr b="1"/>
              <a:t>What the model returns:</a:t>
            </a:r>
          </a:p>
          <a:p>
            <a:pPr lvl="0" indent="0">
              <a:buNone/>
            </a:pPr>
            <a:r>
              <a:rPr>
                <a:latin typeface="Courier"/>
              </a:rPr>
              <a:t>[[0,1,0],[1,0,1],[0,1,0]]</a:t>
            </a:r>
          </a:p>
        </p:txBody>
      </p:sp>
      <p:sp>
        <p:nvSpPr>
          <p:cNvPr id="4" name="Content Placeholder 3"/>
          <p:cNvSpPr>
            <a:spLocks noGrp="1"/>
          </p:cNvSpPr>
          <p:nvPr>
            <p:ph idx="2" sz="half"/>
          </p:nvPr>
        </p:nvSpPr>
        <p:spPr/>
        <p:txBody>
          <a:bodyPr/>
          <a:lstStyle/>
          <a:p>
            <a:pPr lvl="0"/>
            <a:r>
              <a:rPr b="1"/>
              <a:t>pass@2:</a:t>
            </a:r>
            <a:r>
              <a:rPr/>
              <a:t> the model is allowed </a:t>
            </a:r>
            <a:r>
              <a:rPr i="1"/>
              <a:t>two guesses</a:t>
            </a:r>
            <a:r>
              <a:rPr/>
              <a:t> per test input — scores if either matches</a:t>
            </a:r>
          </a:p>
          <a:p>
            <a:pPr lvl="0"/>
            <a:r>
              <a:rPr b="1"/>
              <a:t>Public eval</a:t>
            </a:r>
            <a:r>
              <a:rPr/>
              <a:t> for development; the </a:t>
            </a:r>
            <a:r>
              <a:rPr b="1"/>
              <a:t>private eval</a:t>
            </a:r>
            <a:r>
              <a:rPr/>
              <a:t> is the official scoring, run end-to-end by the ARC Prize foundation on tasks the developer never sees</a:t>
            </a:r>
          </a:p>
          <a:p>
            <a:pPr lvl="0"/>
            <a:r>
              <a:rPr b="1"/>
              <a:t>Cost per task</a:t>
            </a:r>
            <a:r>
              <a:rPr/>
              <a:t> (USD) is graded alongside accuracy — efficiency is a first-class metric</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headline result: +18.7 pts over the strongest standalone frontier model</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2743200"/>
                <a:gridCol w="2743200"/>
                <a:gridCol w="2743200"/>
              </a:tblGrid>
              <a:tr h="0">
                <a:tc>
                  <a:txBody>
                    <a:bodyPr/>
                    <a:lstStyle/>
                    <a:p>
                      <a:pPr lvl="0" indent="0" marL="0">
                        <a:buNone/>
                      </a:pPr>
                      <a:r>
                        <a:rPr/>
                        <a:t>System</a:t>
                      </a:r>
                    </a:p>
                  </a:txBody>
                  <a:tcPr/>
                </a:tc>
                <a:tc>
                  <a:txBody>
                    <a:bodyPr/>
                    <a:lstStyle/>
                    <a:p>
                      <a:pPr lvl="0" indent="0" marL="0" algn="r">
                        <a:buNone/>
                      </a:pPr>
                      <a:r>
                        <a:rPr/>
                        <a:t>ARC-AGI-2</a:t>
                      </a:r>
                    </a:p>
                  </a:txBody>
                  <a:tcPr/>
                </a:tc>
                <a:tc>
                  <a:txBody>
                    <a:bodyPr/>
                    <a:lstStyle/>
                    <a:p>
                      <a:pPr lvl="0" indent="0" marL="0" algn="r">
                        <a:buNone/>
                      </a:pPr>
                      <a:r>
                        <a:rPr/>
                        <a:t>Cost/Task</a:t>
                      </a:r>
                    </a:p>
                  </a:txBody>
                  <a:tcPr/>
                </a:tc>
              </a:tr>
              <a:tr h="0">
                <a:tc>
                  <a:txBody>
                    <a:bodyPr/>
                    <a:lstStyle/>
                    <a:p>
                      <a:pPr lvl="0" indent="0" marL="0">
                        <a:buNone/>
                      </a:pPr>
                      <a:r>
                        <a:rPr/>
                        <a:t>Human Panel</a:t>
                      </a:r>
                    </a:p>
                  </a:txBody>
                </a:tc>
                <a:tc>
                  <a:txBody>
                    <a:bodyPr/>
                    <a:lstStyle/>
                    <a:p>
                      <a:pPr lvl="0" indent="0" marL="0" algn="r">
                        <a:buNone/>
                      </a:pPr>
                      <a:r>
                        <a:rPr/>
                        <a:t>100.0%</a:t>
                      </a:r>
                    </a:p>
                  </a:txBody>
                </a:tc>
                <a:tc>
                  <a:txBody>
                    <a:bodyPr/>
                    <a:lstStyle/>
                    <a:p>
                      <a:pPr lvl="0" indent="0" marL="0" algn="r">
                        <a:buNone/>
                      </a:pPr>
                      <a:r>
                        <a:rPr/>
                        <a:t>$17.00</a:t>
                      </a:r>
                    </a:p>
                  </a:txBody>
                </a:tc>
              </a:tr>
              <a:tr h="0">
                <a:tc>
                  <a:txBody>
                    <a:bodyPr/>
                    <a:lstStyle/>
                    <a:p>
                      <a:pPr lvl="0" indent="0" marL="0">
                        <a:buNone/>
                      </a:pPr>
                      <a:r>
                        <a:rPr b="1"/>
                        <a:t>This work (private)</a:t>
                      </a:r>
                    </a:p>
                  </a:txBody>
                </a:tc>
                <a:tc>
                  <a:txBody>
                    <a:bodyPr/>
                    <a:lstStyle/>
                    <a:p>
                      <a:pPr lvl="0" indent="0" marL="0" algn="r">
                        <a:buNone/>
                      </a:pPr>
                      <a:r>
                        <a:rPr b="1"/>
                        <a:t>72.9%</a:t>
                      </a:r>
                    </a:p>
                  </a:txBody>
                </a:tc>
                <a:tc>
                  <a:txBody>
                    <a:bodyPr/>
                    <a:lstStyle/>
                    <a:p>
                      <a:pPr lvl="0" indent="0" marL="0" algn="r">
                        <a:buNone/>
                      </a:pPr>
                      <a:r>
                        <a:rPr/>
                        <a:t>$38.99</a:t>
                      </a:r>
                    </a:p>
                  </a:txBody>
                </a:tc>
              </a:tr>
              <a:tr h="0">
                <a:tc>
                  <a:txBody>
                    <a:bodyPr/>
                    <a:lstStyle/>
                    <a:p>
                      <a:pPr lvl="0" indent="0" marL="0">
                        <a:buNone/>
                      </a:pPr>
                      <a:r>
                        <a:rPr b="1"/>
                        <a:t>This work (public eval)</a:t>
                      </a:r>
                    </a:p>
                  </a:txBody>
                </a:tc>
                <a:tc>
                  <a:txBody>
                    <a:bodyPr/>
                    <a:lstStyle/>
                    <a:p>
                      <a:pPr lvl="0" indent="0" marL="0" algn="r">
                        <a:buNone/>
                      </a:pPr>
                      <a:r>
                        <a:rPr b="1"/>
                        <a:t>76.1%</a:t>
                      </a:r>
                    </a:p>
                  </a:txBody>
                </a:tc>
                <a:tc>
                  <a:txBody>
                    <a:bodyPr/>
                    <a:lstStyle/>
                    <a:p>
                      <a:pPr lvl="0" indent="0" marL="0" algn="r">
                        <a:buNone/>
                      </a:pPr>
                      <a:r>
                        <a:rPr/>
                        <a:t>$19.69</a:t>
                      </a:r>
                    </a:p>
                  </a:txBody>
                </a:tc>
              </a:tr>
              <a:tr h="0">
                <a:tc>
                  <a:txBody>
                    <a:bodyPr/>
                    <a:lstStyle/>
                    <a:p>
                      <a:pPr lvl="0" indent="0" marL="0">
                        <a:buNone/>
                      </a:pPr>
                      <a:r>
                        <a:rPr/>
                        <a:t>GPT-5.2 Pro (High)</a:t>
                      </a:r>
                    </a:p>
                  </a:txBody>
                </a:tc>
                <a:tc>
                  <a:txBody>
                    <a:bodyPr/>
                    <a:lstStyle/>
                    <a:p>
                      <a:pPr lvl="0" indent="0" marL="0" algn="r">
                        <a:buNone/>
                      </a:pPr>
                      <a:r>
                        <a:rPr/>
                        <a:t>54.2%</a:t>
                      </a:r>
                    </a:p>
                  </a:txBody>
                </a:tc>
                <a:tc>
                  <a:txBody>
                    <a:bodyPr/>
                    <a:lstStyle/>
                    <a:p>
                      <a:pPr lvl="0" indent="0" marL="0" algn="r">
                        <a:buNone/>
                      </a:pPr>
                      <a:r>
                        <a:rPr/>
                        <a:t>$15.72</a:t>
                      </a:r>
                    </a:p>
                  </a:txBody>
                </a:tc>
              </a:tr>
              <a:tr h="0">
                <a:tc>
                  <a:txBody>
                    <a:bodyPr/>
                    <a:lstStyle/>
                    <a:p>
                      <a:pPr lvl="0" indent="0" marL="0">
                        <a:buNone/>
                      </a:pPr>
                      <a:r>
                        <a:rPr/>
                        <a:t>Opus 4.5 (Thinking, 64K)</a:t>
                      </a:r>
                    </a:p>
                  </a:txBody>
                </a:tc>
                <a:tc>
                  <a:txBody>
                    <a:bodyPr/>
                    <a:lstStyle/>
                    <a:p>
                      <a:pPr lvl="0" indent="0" marL="0" algn="r">
                        <a:buNone/>
                      </a:pPr>
                      <a:r>
                        <a:rPr/>
                        <a:t>37.6%</a:t>
                      </a:r>
                    </a:p>
                  </a:txBody>
                </a:tc>
                <a:tc>
                  <a:txBody>
                    <a:bodyPr/>
                    <a:lstStyle/>
                    <a:p>
                      <a:pPr lvl="0" indent="0" marL="0" algn="r">
                        <a:buNone/>
                      </a:pPr>
                      <a:r>
                        <a:rPr/>
                        <a:t>$2.40</a:t>
                      </a:r>
                    </a:p>
                  </a:txBody>
                </a:tc>
              </a:tr>
              <a:tr h="0">
                <a:tc>
                  <a:txBody>
                    <a:bodyPr/>
                    <a:lstStyle/>
                    <a:p>
                      <a:pPr lvl="0" indent="0" marL="0">
                        <a:buNone/>
                      </a:pPr>
                      <a:r>
                        <a:rPr/>
                        <a:t>Gemini 3 Pro</a:t>
                      </a:r>
                    </a:p>
                  </a:txBody>
                </a:tc>
                <a:tc>
                  <a:txBody>
                    <a:bodyPr/>
                    <a:lstStyle/>
                    <a:p>
                      <a:pPr lvl="0" indent="0" marL="0" algn="r">
                        <a:buNone/>
                      </a:pPr>
                      <a:r>
                        <a:rPr/>
                        <a:t>31.1%</a:t>
                      </a:r>
                    </a:p>
                  </a:txBody>
                </a:tc>
                <a:tc>
                  <a:txBody>
                    <a:bodyPr/>
                    <a:lstStyle/>
                    <a:p>
                      <a:pPr lvl="0" indent="0" marL="0" algn="r">
                        <a:buNone/>
                      </a:pPr>
                      <a:r>
                        <a:rPr/>
                        <a:t>$0.81</a:t>
                      </a:r>
                    </a:p>
                  </a:txBody>
                </a:tc>
              </a:tr>
            </a:tbl>
          </a:graphicData>
        </a:graphic>
      </p:graphicFrame>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Two problems: break groupthink, then recognize the outlier</a:t>
            </a:r>
          </a:p>
        </p:txBody>
      </p:sp>
      <p:sp>
        <p:nvSpPr>
          <p:cNvPr id="3" name="Content Placeholder 2"/>
          <p:cNvSpPr>
            <a:spLocks noGrp="1"/>
          </p:cNvSpPr>
          <p:nvPr>
            <p:ph idx="1"/>
          </p:nvPr>
        </p:nvSpPr>
        <p:spPr/>
        <p:txBody>
          <a:bodyPr/>
          <a:lstStyle/>
          <a:p>
            <a:pPr lvl="0"/>
            <a:r>
              <a:rPr/>
              <a:t>LLMs produce fluent, internally coherent traces — and are still </a:t>
            </a:r>
            <a:r>
              <a:rPr b="1"/>
              <a:t>confidently wrong</a:t>
            </a:r>
          </a:p>
          <a:p>
            <a:pPr lvl="0"/>
            <a:r>
              <a:rPr/>
              <a:t>On hard tasks, models </a:t>
            </a:r>
            <a:r>
              <a:rPr b="1"/>
              <a:t>cluster around the same wrong interpretation</a:t>
            </a:r>
          </a:p>
          <a:p>
            <a:pPr lvl="0"/>
            <a:r>
              <a:rPr/>
              <a:t>⇒ majority voting / self-consistency </a:t>
            </a:r>
            <a:r>
              <a:rPr i="1"/>
              <a:t>amplifies</a:t>
            </a:r>
            <a:r>
              <a:rPr/>
              <a:t> the error</a:t>
            </a:r>
          </a:p>
          <a:p>
            <a:pPr lvl="0"/>
            <a:r>
              <a:rPr b="1"/>
              <a:t>(1) Break the groupthink</a:t>
            </a:r>
            <a:r>
              <a:rPr/>
              <a:t> — diversify so some candidate reaches the correct answer</a:t>
            </a:r>
          </a:p>
          <a:p>
            <a:pPr lvl="0"/>
            <a:r>
              <a:rPr b="1"/>
              <a:t>(2) Recognize the rare-correct</a:t>
            </a:r>
            <a:r>
              <a:rPr/>
              <a:t> — pick it out when most others disagree</a:t>
            </a:r>
          </a:p>
          <a:p>
            <a:pPr lvl="0" indent="0" marL="0">
              <a:buNone/>
            </a:pPr>
            <a:r>
              <a:rPr i="1"/>
              <a:t>Roadmap: </a:t>
            </a:r>
            <a:r>
              <a:rPr b="1" i="1"/>
              <a:t>(1)</a:t>
            </a:r>
            <a:r>
              <a:rPr i="1"/>
              <a:t> next two slides · </a:t>
            </a:r>
            <a:r>
              <a:rPr b="1" i="1"/>
              <a:t>(2)</a:t>
            </a:r>
            <a:r>
              <a:rPr i="1"/>
              <a:t> after that · then both wired together · then on a real task</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(1) Break the groupthink — modalities as search operators</a:t>
            </a:r>
          </a:p>
        </p:txBody>
      </p:sp>
      <p:sp>
        <p:nvSpPr>
          <p:cNvPr id="3" name="Content Placeholder 2"/>
          <p:cNvSpPr>
            <a:spLocks noGrp="1"/>
          </p:cNvSpPr>
          <p:nvPr>
            <p:ph idx="1"/>
          </p:nvPr>
        </p:nvSpPr>
        <p:spPr/>
        <p:txBody>
          <a:bodyPr/>
          <a:lstStyle/>
          <a:p>
            <a:pPr lvl="0" indent="0" marL="0">
              <a:buNone/>
            </a:pPr>
            <a:r>
              <a:rPr/>
              <a:t>Same task, three representations → three different hypothesis distributions</a:t>
            </a:r>
          </a:p>
          <a:p>
            <a:pPr lvl="0"/>
            <a:r>
              <a:rPr b="1"/>
              <a:t>TEXT</a:t>
            </a:r>
            <a:r>
              <a:rPr/>
              <a:t> — model reads the grid as numbers / strings</a:t>
            </a:r>
          </a:p>
          <a:p>
            <a:pPr lvl="0"/>
            <a:r>
              <a:rPr b="1"/>
              <a:t>IMAGE</a:t>
            </a:r>
            <a:r>
              <a:rPr/>
              <a:t> — model sees a rendered PNG of the grid</a:t>
            </a:r>
          </a:p>
          <a:p>
            <a:pPr lvl="0"/>
            <a:r>
              <a:rPr b="1"/>
              <a:t>CODE</a:t>
            </a:r>
            <a:r>
              <a:rPr/>
              <a:t> — model writes Python to transform the grid</a:t>
            </a:r>
          </a:p>
          <a:p>
            <a:pPr lvl="0" indent="0" marL="0">
              <a:buNone/>
            </a:pPr>
            <a:br/>
          </a:p>
          <a:p>
            <a:pPr lvl="0"/>
            <a:r>
              <a:rPr/>
              <a:t>Each modality solves tasks the others miss</a:t>
            </a:r>
          </a:p>
          <a:p>
            <a:pPr lvl="0"/>
            <a:r>
              <a:rPr/>
              <a:t>Generate </a:t>
            </a:r>
            <a:r>
              <a:rPr b="1"/>
              <a:t>independently</a:t>
            </a:r>
            <a:r>
              <a:rPr/>
              <a:t> — don’t pool prompts, don’t share scaffolding</a:t>
            </a:r>
          </a:p>
          <a:p>
            <a:pPr lvl="0"/>
            <a:r>
              <a:rPr/>
              <a:t>Diversity at the </a:t>
            </a:r>
            <a:r>
              <a:rPr i="1"/>
              <a:t>representation</a:t>
            </a:r>
            <a:r>
              <a:rPr/>
              <a:t> level, not just temperature</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(1) Break the groupthink — candidate generation in practice</a:t>
            </a:r>
          </a:p>
        </p:txBody>
      </p:sp>
      <p:sp>
        <p:nvSpPr>
          <p:cNvPr id="3" name="Content Placeholder 2"/>
          <p:cNvSpPr>
            <a:spLocks noGrp="1"/>
          </p:cNvSpPr>
          <p:nvPr>
            <p:ph idx="1"/>
          </p:nvPr>
        </p:nvSpPr>
        <p:spPr/>
        <p:txBody>
          <a:bodyPr/>
          <a:lstStyle/>
          <a:p>
            <a:pPr lvl="0"/>
            <a:r>
              <a:rPr b="1"/>
              <a:t>3 models:</a:t>
            </a:r>
            <a:r>
              <a:rPr/>
              <a:t> GPT-5.2 (x-high), Gemini 3 Preview (high), Claude Opus 4.5 (long-context)</a:t>
            </a:r>
          </a:p>
          <a:p>
            <a:pPr lvl="0"/>
            <a:r>
              <a:rPr b="1"/>
              <a:t>3 modality families:</a:t>
            </a:r>
            <a:r>
              <a:rPr/>
              <a:t> Text, Image, Code</a:t>
            </a:r>
          </a:p>
          <a:p>
            <a:pPr lvl="0"/>
            <a:r>
              <a:rPr b="1"/>
              <a:t>29 candidates per task</a:t>
            </a:r>
            <a:r>
              <a:rPr/>
              <a:t> across families × configurations</a:t>
            </a:r>
          </a:p>
          <a:p>
            <a:pPr lvl="0"/>
            <a:r>
              <a:rPr b="1"/>
              <a:t>Deliberately minimal prompts</a:t>
            </a:r>
            <a:r>
              <a:rPr/>
              <a:t> in every lane </a:t>
            </a:r>
            <a:r>
              <a:rPr i="1"/>
              <a:t>(see slide 10)</a:t>
            </a:r>
          </a:p>
          <a:p>
            <a:pPr lvl="0"/>
            <a:r>
              <a:rPr/>
              <a:t>Code candidates use a sandbox REPL for iterative debugging</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(2) Recognize the rare-correct — holistic judging vs. majority voting</a:t>
            </a:r>
          </a:p>
        </p:txBody>
      </p:sp>
      <p:sp>
        <p:nvSpPr>
          <p:cNvPr id="3" name="Content Placeholder 2"/>
          <p:cNvSpPr>
            <a:spLocks noGrp="1"/>
          </p:cNvSpPr>
          <p:nvPr>
            <p:ph idx="1"/>
          </p:nvPr>
        </p:nvSpPr>
        <p:spPr/>
        <p:txBody>
          <a:bodyPr/>
          <a:lstStyle/>
          <a:p>
            <a:pPr lvl="0"/>
            <a:r>
              <a:rPr/>
              <a:t>Concatenate all 29 reasoning traces into one long-context judge prompt</a:t>
            </a:r>
          </a:p>
          <a:p>
            <a:pPr lvl="0"/>
            <a:r>
              <a:rPr/>
              <a:t>Each judge picks top-2 candidates </a:t>
            </a:r>
            <a:r>
              <a:rPr i="1"/>
              <a:t>and</a:t>
            </a:r>
            <a:r>
              <a:rPr/>
              <a:t> explains why other clusters are wrong</a:t>
            </a:r>
          </a:p>
          <a:p>
            <a:pPr lvl="0"/>
            <a:r>
              <a:rPr/>
              <a:t>Weighted vote across 3 judges → pass@2 guesses</a:t>
            </a:r>
          </a:p>
          <a:p>
            <a:pPr lvl="0" indent="0" marL="0">
              <a:buNone/>
            </a:pPr>
            <a:r>
              <a:rPr b="1"/>
              <a:t>Net uplift vs. majority-vote baseline: +7 instances</a:t>
            </a:r>
          </a:p>
          <a:p>
            <a:pPr lvl="0" indent="0" marL="0">
              <a:buNone/>
            </a:pPr>
            <a:r>
              <a:rPr i="1"/>
              <a:t>All 7 are minority recoveries — the correct answer wasn’t the most common candidate.</a:t>
            </a:r>
          </a:p>
          <a:p>
            <a:pPr lvl="0" indent="0" marL="0">
              <a:buNone/>
            </a:pPr>
            <a:r>
              <a:rPr/>
              <a:t>Plus </a:t>
            </a:r>
            <a:r>
              <a:rPr b="1"/>
              <a:t>+1 synthesis</a:t>
            </a:r>
            <a:r>
              <a:rPr/>
              <a:t> instance (</a:t>
            </a:r>
            <a:r>
              <a:rPr>
                <a:latin typeface="Courier"/>
              </a:rPr>
              <a:t>21897d95:2</a:t>
            </a:r>
            <a:r>
              <a:rPr/>
              <a:t>): zero correct candidates — judge recombined partial insights into a novel correct output.</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(1) + (2) wired together — pipeline overview</a:t>
            </a:r>
          </a:p>
        </p:txBody>
      </p:sp>
      <p:pic>
        <p:nvPicPr>
          <p:cNvPr descr="figures/pipeline.png" id="0" name="Picture 1"/>
          <p:cNvPicPr>
            <a:picLocks noGrp="1" noChangeAspect="1"/>
          </p:cNvPicPr>
          <p:nvPr/>
        </p:nvPicPr>
        <p:blipFill>
          <a:blip r:embed="rId3"/>
          <a:stretch>
            <a:fillRect/>
          </a:stretch>
        </p:blipFill>
        <p:spPr bwMode="auto">
          <a:xfrm>
            <a:off x="1219200" y="1193800"/>
            <a:ext cx="2514600" cy="3390900"/>
          </a:xfrm>
          <a:prstGeom prst="rect">
            <a:avLst/>
          </a:prstGeom>
          <a:noFill/>
          <a:ln w="9525">
            <a:noFill/>
            <a:headEnd/>
            <a:tailEnd/>
          </a:ln>
        </p:spPr>
      </p:pic>
      <p:sp>
        <p:nvSpPr>
          <p:cNvPr id="4" name="Content Placeholder 3"/>
          <p:cNvSpPr>
            <a:spLocks noGrp="1"/>
          </p:cNvSpPr>
          <p:nvPr>
            <p:ph idx="2" sz="half"/>
          </p:nvPr>
        </p:nvSpPr>
        <p:spPr/>
        <p:txBody>
          <a:bodyPr/>
          <a:lstStyle/>
          <a:p>
            <a:pPr lvl="0" indent="0" marL="0">
              <a:buNone/>
            </a:pPr>
            <a:r>
              <a:rPr b="1"/>
              <a:t>Generate broadly → judge → vote weighted</a:t>
            </a:r>
          </a:p>
          <a:p>
            <a:pPr lvl="0"/>
            <a:r>
              <a:rPr/>
              <a:t>Up to 29 candidates across Text / Image / Code</a:t>
            </a:r>
          </a:p>
          <a:p>
            <a:pPr lvl="0"/>
            <a:r>
              <a:rPr/>
              <a:t>3 frontier models: GPT-5.2, Gemini 3, Opus 4.5</a:t>
            </a:r>
          </a:p>
          <a:p>
            <a:pPr lvl="0"/>
            <a:r>
              <a:rPr/>
              <a:t>3 parallel judges read </a:t>
            </a:r>
            <a:r>
              <a:rPr i="1"/>
              <a:t>all</a:t>
            </a:r>
            <a:r>
              <a:rPr/>
              <a:t> traces in one long-context prompt</a:t>
            </a:r>
          </a:p>
          <a:p>
            <a:pPr lvl="0"/>
            <a:r>
              <a:rPr/>
              <a:t>Early-stop: 37/167 stopped after first probe; </a:t>
            </a:r>
            <a:r>
              <a:rPr b="1"/>
              <a:t>36 correct (97%)</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(1) + (2) on a real task — 28 of 29 candidates wrong, judges picked the right one</a:t>
            </a:r>
          </a:p>
        </p:txBody>
      </p:sp>
      <p:pic>
        <p:nvPicPr>
          <p:cNvPr descr="figures/task_2d0172a1.png" id="0" name="Picture 1"/>
          <p:cNvPicPr>
            <a:picLocks noGrp="1" noChangeAspect="1"/>
          </p:cNvPicPr>
          <p:nvPr/>
        </p:nvPicPr>
        <p:blipFill>
          <a:blip r:embed="rId3"/>
          <a:stretch>
            <a:fillRect/>
          </a:stretch>
        </p:blipFill>
        <p:spPr bwMode="auto">
          <a:xfrm>
            <a:off x="1841500" y="1625600"/>
            <a:ext cx="1282700" cy="2959100"/>
          </a:xfrm>
          <a:prstGeom prst="rect">
            <a:avLst/>
          </a:prstGeom>
          <a:noFill/>
          <a:ln w="9525">
            <a:noFill/>
            <a:headEnd/>
            <a:tailEnd/>
          </a:ln>
        </p:spPr>
      </p:pic>
      <p:sp>
        <p:nvSpPr>
          <p:cNvPr id="5" name="Text Placeholder 4"/>
          <p:cNvSpPr>
            <a:spLocks noGrp="1"/>
          </p:cNvSpPr>
          <p:nvPr>
            <p:ph idx="3" sz="quarter" type="body"/>
          </p:nvPr>
        </p:nvSpPr>
        <p:spPr/>
        <p:txBody>
          <a:bodyPr/>
          <a:lstStyle/>
          <a:p>
            <a:pPr lvl="0" indent="0" marL="0">
              <a:buNone/>
            </a:pPr>
            <a:r>
              <a:rPr b="1"/>
              <a:t>Public eval task </a:t>
            </a:r>
            <a:r>
              <a:rPr b="1">
                <a:latin typeface="Courier"/>
              </a:rPr>
              <a:t>2d0172a1:1</a:t>
            </a:r>
            <a:r>
              <a:rPr/>
              <a:t> — candidate pool </a:t>
            </a:r>
            <a:r>
              <a:rPr i="1"/>
              <a:t>n</a:t>
            </a:r>
            <a:r>
              <a:rPr/>
              <a:t> = 29</a:t>
            </a:r>
          </a:p>
        </p:txBody>
      </p:sp>
      <p:graphicFrame>
        <p:nvGraphicFramePr>
          <p:cNvPr id="6" name="Content Placeholder 5"/>
          <p:cNvGraphicFramePr>
            <a:graphicFrameLocks noGrp="1"/>
          </p:cNvGraphicFramePr>
          <p:nvPr>
            <p:ph idx="1"/>
          </p:nvPr>
        </p:nvGraphicFramePr>
        <p:xfrm>
          <a:off x="4635500" y="1625600"/>
          <a:ext cx="4038600" cy="2959100"/>
        </p:xfrm>
        <a:graphic>
          <a:graphicData uri="http://schemas.openxmlformats.org/drawingml/2006/table">
            <a:tbl>
              <a:tblPr firstRow="1" bandRow="1">
                <a:tableStyleId>{5C22544A-7EE6-4342-B048-85BDC9FD1C3A}</a:tableStyleId>
              </a:tblPr>
              <a:tblGrid>
                <a:gridCol w="1346200"/>
                <a:gridCol w="1346200"/>
                <a:gridCol w="1346200"/>
              </a:tblGrid>
              <a:tr h="0">
                <a:tc>
                  <a:txBody>
                    <a:bodyPr/>
                    <a:lstStyle/>
                    <a:p>
                      <a:pPr lvl="0" indent="0" marL="0">
                        <a:buNone/>
                      </a:pPr>
                      <a:r>
                        <a:rPr/>
                        <a:t>Modality family</a:t>
                      </a:r>
                    </a:p>
                  </a:txBody>
                  <a:tcPr/>
                </a:tc>
                <a:tc>
                  <a:txBody>
                    <a:bodyPr/>
                    <a:lstStyle/>
                    <a:p>
                      <a:pPr lvl="0" indent="0" marL="0" algn="ctr">
                        <a:buNone/>
                      </a:pPr>
                      <a:r>
                        <a:rPr/>
                        <a:t>Correct</a:t>
                      </a:r>
                    </a:p>
                  </a:txBody>
                  <a:tcPr/>
                </a:tc>
                <a:tc>
                  <a:txBody>
                    <a:bodyPr/>
                    <a:lstStyle/>
                    <a:p>
                      <a:pPr lvl="0" indent="0" marL="0" algn="ctr">
                        <a:buNone/>
                      </a:pPr>
                      <a:r>
                        <a:rPr/>
                        <a:t>Wrong</a:t>
                      </a:r>
                    </a:p>
                  </a:txBody>
                  <a:tcPr/>
                </a:tc>
              </a:tr>
              <a:tr h="0">
                <a:tc>
                  <a:txBody>
                    <a:bodyPr/>
                    <a:lstStyle/>
                    <a:p>
                      <a:pPr lvl="0" indent="0" marL="0">
                        <a:buNone/>
                      </a:pPr>
                      <a:r>
                        <a:rPr/>
                        <a:t>Text (8)</a:t>
                      </a:r>
                    </a:p>
                  </a:txBody>
                </a:tc>
                <a:tc>
                  <a:txBody>
                    <a:bodyPr/>
                    <a:lstStyle/>
                    <a:p>
                      <a:pPr lvl="0" indent="0" marL="0" algn="ctr">
                        <a:buNone/>
                      </a:pPr>
                      <a:r>
                        <a:rPr/>
                        <a:t>0</a:t>
                      </a:r>
                    </a:p>
                  </a:txBody>
                </a:tc>
                <a:tc>
                  <a:txBody>
                    <a:bodyPr/>
                    <a:lstStyle/>
                    <a:p>
                      <a:pPr lvl="0" indent="0" marL="0" algn="ctr">
                        <a:buNone/>
                      </a:pPr>
                      <a:r>
                        <a:rPr/>
                        <a:t>8</a:t>
                      </a:r>
                    </a:p>
                  </a:txBody>
                </a:tc>
              </a:tr>
              <a:tr h="0">
                <a:tc>
                  <a:txBody>
                    <a:bodyPr/>
                    <a:lstStyle/>
                    <a:p>
                      <a:pPr lvl="0" indent="0" marL="0">
                        <a:buNone/>
                      </a:pPr>
                      <a:r>
                        <a:rPr/>
                        <a:t>Image (10)</a:t>
                      </a:r>
                    </a:p>
                  </a:txBody>
                </a:tc>
                <a:tc>
                  <a:txBody>
                    <a:bodyPr/>
                    <a:lstStyle/>
                    <a:p>
                      <a:pPr lvl="0" indent="0" marL="0" algn="ctr">
                        <a:buNone/>
                      </a:pPr>
                      <a:r>
                        <a:rPr b="1"/>
                        <a:t>1</a:t>
                      </a:r>
                    </a:p>
                  </a:txBody>
                </a:tc>
                <a:tc>
                  <a:txBody>
                    <a:bodyPr/>
                    <a:lstStyle/>
                    <a:p>
                      <a:pPr lvl="0" indent="0" marL="0" algn="ctr">
                        <a:buNone/>
                      </a:pPr>
                      <a:r>
                        <a:rPr/>
                        <a:t>9</a:t>
                      </a:r>
                    </a:p>
                  </a:txBody>
                </a:tc>
              </a:tr>
              <a:tr h="0">
                <a:tc>
                  <a:txBody>
                    <a:bodyPr/>
                    <a:lstStyle/>
                    <a:p>
                      <a:pPr lvl="0" indent="0" marL="0">
                        <a:buNone/>
                      </a:pPr>
                      <a:r>
                        <a:rPr/>
                        <a:t>Code (11)</a:t>
                      </a:r>
                    </a:p>
                  </a:txBody>
                </a:tc>
                <a:tc>
                  <a:txBody>
                    <a:bodyPr/>
                    <a:lstStyle/>
                    <a:p>
                      <a:pPr lvl="0" indent="0" marL="0" algn="ctr">
                        <a:buNone/>
                      </a:pPr>
                      <a:r>
                        <a:rPr/>
                        <a:t>0</a:t>
                      </a:r>
                    </a:p>
                  </a:txBody>
                </a:tc>
                <a:tc>
                  <a:txBody>
                    <a:bodyPr/>
                    <a:lstStyle/>
                    <a:p>
                      <a:pPr lvl="0" indent="0" marL="0" algn="ctr">
                        <a:buNone/>
                      </a:pPr>
                      <a:r>
                        <a:rPr/>
                        <a:t>11</a:t>
                      </a:r>
                    </a:p>
                  </a:txBody>
                </a:tc>
              </a:tr>
              <a:tr h="0">
                <a:tc>
                  <a:txBody>
                    <a:bodyPr/>
                    <a:lstStyle/>
                    <a:p>
                      <a:pPr lvl="0" indent="0" marL="0">
                        <a:buNone/>
                      </a:pPr>
                      <a:r>
                        <a:rPr b="1"/>
                        <a:t>Total</a:t>
                      </a:r>
                    </a:p>
                  </a:txBody>
                </a:tc>
                <a:tc>
                  <a:txBody>
                    <a:bodyPr/>
                    <a:lstStyle/>
                    <a:p>
                      <a:pPr lvl="0" indent="0" marL="0" algn="ctr">
                        <a:buNone/>
                      </a:pPr>
                      <a:r>
                        <a:rPr b="1"/>
                        <a:t>1</a:t>
                      </a:r>
                    </a:p>
                  </a:txBody>
                </a:tc>
                <a:tc>
                  <a:txBody>
                    <a:bodyPr/>
                    <a:lstStyle/>
                    <a:p>
                      <a:pPr lvl="0" indent="0" marL="0" algn="ctr">
                        <a:buNone/>
                      </a:pPr>
                      <a:r>
                        <a:rPr b="1"/>
                        <a:t>28</a:t>
                      </a:r>
                    </a:p>
                  </a:txBody>
                </a:tc>
              </a:tr>
            </a:tbl>
          </a:graphicData>
        </a:graphic>
      </p:graphicFrame>
      <p:sp>
        <p:nvSpPr>
          <p:cNvPr id="6" name="Content Placeholder 5"/>
          <p:cNvSpPr>
            <a:spLocks noGrp="1"/>
          </p:cNvSpPr>
          <p:nvPr>
            <p:ph idx="4" sz="quarter"/>
          </p:nvPr>
        </p:nvSpPr>
        <p:spPr/>
        <p:txBody>
          <a:bodyPr/>
          <a:lstStyle/>
          <a:p>
            <a:pPr lvl="0" indent="0" marL="1270000">
              <a:buNone/>
            </a:pPr>
            <a:r>
              <a:rPr sz="2000"/>
              <a:t>✅ </a:t>
            </a:r>
            <a:r>
              <a:rPr sz="2000" b="1"/>
              <a:t>Submission verdict: SOLVED</a:t>
            </a:r>
            <a:r>
              <a:rPr sz="2000"/>
              <a:t> — the holistic judges selected the lone correct candidate.</a:t>
            </a:r>
          </a:p>
          <a:p>
            <a:pPr lvl="0"/>
            <a:r>
              <a:rPr/>
              <a:t>One image candidate produced the correct nested-frame output; 28 of 29 candidates were wrong</a:t>
            </a:r>
          </a:p>
          <a:p>
            <a:pPr lvl="0"/>
            <a:r>
              <a:rPr/>
              <a:t>Majority voting would collapse onto the wrong cluster</a:t>
            </a:r>
          </a:p>
          <a:p>
            <a:pPr lvl="0"/>
            <a:r>
              <a:rPr b="1"/>
              <a:t>Our judges recovered the minority-correct candidate — that’s what the submission scored on</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(2) Recognize the rare-correct — what the judges actually read (</a:t>
            </a:r>
            <a:r>
              <a:rPr>
                <a:latin typeface="Courier"/>
              </a:rPr>
              <a:t>2d0172a1:1</a:t>
            </a:r>
            <a:r>
              <a:rPr/>
              <a:t>)</a:t>
            </a:r>
          </a:p>
        </p:txBody>
      </p:sp>
      <p:sp>
        <p:nvSpPr>
          <p:cNvPr id="3" name="Content Placeholder 2"/>
          <p:cNvSpPr>
            <a:spLocks noGrp="1"/>
          </p:cNvSpPr>
          <p:nvPr>
            <p:ph idx="1"/>
          </p:nvPr>
        </p:nvSpPr>
        <p:spPr/>
        <p:txBody>
          <a:bodyPr/>
          <a:lstStyle/>
          <a:p>
            <a:pPr lvl="0" indent="0" marL="0">
              <a:buNone/>
            </a:pPr>
            <a:r>
              <a:rPr/>
              <a:t>This task produced </a:t>
            </a:r>
            <a:r>
              <a:rPr b="1"/>
              <a:t>31,208 lines</a:t>
            </a:r>
            <a:r>
              <a:rPr/>
              <a:t> of reasoning traces / logs.</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sz="half"/>
          </p:nvPr>
        </p:nvSpPr>
        <p:spPr/>
        <p:txBody>
          <a:bodyPr/>
          <a:lstStyle/>
          <a:p>
            <a:pPr lvl="0" indent="0" marL="0">
              <a:buNone/>
            </a:pPr>
            <a:r>
              <a:rPr b="1"/>
              <a:t>Winning candidate</a:t>
            </a:r>
            <a:r>
              <a:rPr/>
              <a:t> — GPT-5.2 x-high, image modality</a:t>
            </a:r>
          </a:p>
          <a:p>
            <a:pPr lvl="0" indent="0">
              <a:buNone/>
            </a:pPr>
            <a:r>
              <a:rPr b="1">
                <a:solidFill>
                  <a:srgbClr val="FF0000"/>
                </a:solidFill>
                <a:latin typeface="Courier"/>
              </a:rPr>
              <a:t>//</a:t>
            </a:r>
            <a:r>
              <a:rPr>
                <a:latin typeface="Courier"/>
              </a:rPr>
              <a:t> </a:t>
            </a:r>
            <a:r>
              <a:rPr b="1">
                <a:solidFill>
                  <a:srgbClr val="FF0000"/>
                </a:solidFill>
                <a:latin typeface="Courier"/>
              </a:rPr>
              <a:t>logs/</a:t>
            </a:r>
            <a:r>
              <a:rPr>
                <a:solidFill>
                  <a:srgbClr val="40A070"/>
                </a:solidFill>
                <a:latin typeface="Courier"/>
              </a:rPr>
              <a:t>2026</a:t>
            </a:r>
            <a:r>
              <a:rPr b="1">
                <a:solidFill>
                  <a:srgbClr val="FF0000"/>
                </a:solidFill>
                <a:latin typeface="Courier"/>
              </a:rPr>
              <a:t>-01-04_</a:t>
            </a:r>
            <a:r>
              <a:rPr>
                <a:solidFill>
                  <a:srgbClr val="40A070"/>
                </a:solidFill>
                <a:latin typeface="Courier"/>
              </a:rPr>
              <a:t>22</a:t>
            </a:r>
            <a:r>
              <a:rPr b="1">
                <a:solidFill>
                  <a:srgbClr val="FF0000"/>
                </a:solidFill>
                <a:latin typeface="Courier"/>
              </a:rPr>
              <a:t>-09</a:t>
            </a:r>
            <a:r>
              <a:rPr>
                <a:solidFill>
                  <a:srgbClr val="40A070"/>
                </a:solidFill>
                <a:latin typeface="Courier"/>
              </a:rPr>
              <a:t>-54</a:t>
            </a:r>
            <a:r>
              <a:rPr b="1">
                <a:solidFill>
                  <a:srgbClr val="FF0000"/>
                </a:solidFill>
                <a:latin typeface="Courier"/>
              </a:rPr>
              <a:t>_</a:t>
            </a:r>
            <a:r>
              <a:rPr>
                <a:solidFill>
                  <a:srgbClr val="40A070"/>
                </a:solidFill>
                <a:latin typeface="Courier"/>
              </a:rPr>
              <a:t>2</a:t>
            </a:r>
            <a:r>
              <a:rPr b="1">
                <a:solidFill>
                  <a:srgbClr val="FF0000"/>
                </a:solidFill>
                <a:latin typeface="Courier"/>
              </a:rPr>
              <a:t>d0172a1_</a:t>
            </a:r>
            <a:r>
              <a:rPr>
                <a:solidFill>
                  <a:srgbClr val="40A070"/>
                </a:solidFill>
                <a:latin typeface="Courier"/>
              </a:rPr>
              <a:t>1</a:t>
            </a:r>
            <a:r>
              <a:rPr b="1">
                <a:solidFill>
                  <a:srgbClr val="FF0000"/>
                </a:solidFill>
                <a:latin typeface="Courier"/>
              </a:rPr>
              <a:t>_step_</a:t>
            </a:r>
            <a:r>
              <a:rPr>
                <a:solidFill>
                  <a:srgbClr val="40A070"/>
                </a:solidFill>
                <a:latin typeface="Courier"/>
              </a:rPr>
              <a:t>5</a:t>
            </a:r>
            <a:r>
              <a:rPr b="1">
                <a:solidFill>
                  <a:srgbClr val="FF0000"/>
                </a:solidFill>
                <a:latin typeface="Courier"/>
              </a:rPr>
              <a:t>.json</a:t>
            </a:r>
            <a:br/>
            <a:r>
              <a:rPr>
                <a:solidFill>
                  <a:srgbClr val="06287E"/>
                </a:solidFill>
                <a:latin typeface="Courier"/>
              </a:rPr>
              <a:t>{</a:t>
            </a:r>
            <a:br/>
            <a:r>
              <a:rPr>
                <a:latin typeface="Courier"/>
              </a:rPr>
              <a:t>  </a:t>
            </a:r>
            <a:r>
              <a:rPr>
                <a:solidFill>
                  <a:srgbClr val="902000"/>
                </a:solidFill>
                <a:latin typeface="Courier"/>
              </a:rPr>
              <a:t>"image"</a:t>
            </a:r>
            <a:r>
              <a:rPr>
                <a:solidFill>
                  <a:srgbClr val="06287E"/>
                </a:solidFill>
                <a:latin typeface="Courier"/>
              </a:rPr>
              <a:t>:</a:t>
            </a:r>
            <a:r>
              <a:rPr>
                <a:latin typeface="Courier"/>
              </a:rPr>
              <a:t> </a:t>
            </a:r>
            <a:r>
              <a:rPr>
                <a:solidFill>
                  <a:srgbClr val="06287E"/>
                </a:solidFill>
                <a:latin typeface="Courier"/>
              </a:rPr>
              <a:t>{</a:t>
            </a:r>
            <a:br/>
            <a:r>
              <a:rPr>
                <a:latin typeface="Courier"/>
              </a:rPr>
              <a:t>    </a:t>
            </a:r>
            <a:r>
              <a:rPr b="1">
                <a:solidFill>
                  <a:srgbClr val="FF0000"/>
                </a:solidFill>
                <a:latin typeface="Courier"/>
              </a:rPr>
              <a:t>...</a:t>
            </a:r>
            <a:br/>
            <a:r>
              <a:rPr>
                <a:latin typeface="Courier"/>
              </a:rPr>
              <a:t>    </a:t>
            </a:r>
            <a:r>
              <a:rPr>
                <a:solidFill>
                  <a:srgbClr val="902000"/>
                </a:solidFill>
                <a:latin typeface="Courier"/>
              </a:rPr>
              <a:t>"gpt-5.2-xhigh_13_step_5_image_..."</a:t>
            </a:r>
            <a:r>
              <a:rPr>
                <a:solidFill>
                  <a:srgbClr val="06287E"/>
                </a:solidFill>
                <a:latin typeface="Courier"/>
              </a:rPr>
              <a:t>:</a:t>
            </a:r>
            <a:r>
              <a:rPr>
                <a:latin typeface="Courier"/>
              </a:rPr>
              <a:t> </a:t>
            </a:r>
            <a:r>
              <a:rPr>
                <a:solidFill>
                  <a:srgbClr val="06287E"/>
                </a:solidFill>
                <a:latin typeface="Courier"/>
              </a:rPr>
              <a:t>{</a:t>
            </a:r>
            <a:br/>
            <a:r>
              <a:rPr>
                <a:latin typeface="Courier"/>
              </a:rPr>
              <a:t>      </a:t>
            </a:r>
            <a:r>
              <a:rPr>
                <a:solidFill>
                  <a:srgbClr val="902000"/>
                </a:solidFill>
                <a:latin typeface="Courier"/>
              </a:rPr>
              <a:t>"actual_model"</a:t>
            </a:r>
            <a:r>
              <a:rPr>
                <a:solidFill>
                  <a:srgbClr val="06287E"/>
                </a:solidFill>
                <a:latin typeface="Courier"/>
              </a:rPr>
              <a:t>:</a:t>
            </a:r>
            <a:r>
              <a:rPr>
                <a:latin typeface="Courier"/>
              </a:rPr>
              <a:t> </a:t>
            </a:r>
            <a:r>
              <a:rPr>
                <a:solidFill>
                  <a:srgbClr val="4070A0"/>
                </a:solidFill>
                <a:latin typeface="Courier"/>
              </a:rPr>
              <a:t>"gpt-5.2-xhigh"</a:t>
            </a:r>
            <a:r>
              <a:rPr>
                <a:solidFill>
                  <a:srgbClr val="06287E"/>
                </a:solidFill>
                <a:latin typeface="Courier"/>
              </a:rPr>
              <a:t>,</a:t>
            </a:r>
            <a:br/>
            <a:r>
              <a:rPr>
                <a:latin typeface="Courier"/>
              </a:rPr>
              <a:t>      </a:t>
            </a:r>
            <a:r>
              <a:rPr>
                <a:solidFill>
                  <a:srgbClr val="902000"/>
                </a:solidFill>
                <a:latin typeface="Courier"/>
              </a:rPr>
              <a:t>"input_tokens"</a:t>
            </a:r>
            <a:r>
              <a:rPr>
                <a:solidFill>
                  <a:srgbClr val="06287E"/>
                </a:solidFill>
                <a:latin typeface="Courier"/>
              </a:rPr>
              <a:t>:</a:t>
            </a:r>
            <a:r>
              <a:rPr>
                <a:latin typeface="Courier"/>
              </a:rPr>
              <a:t> </a:t>
            </a:r>
            <a:r>
              <a:rPr>
                <a:solidFill>
                  <a:srgbClr val="40A070"/>
                </a:solidFill>
                <a:latin typeface="Courier"/>
              </a:rPr>
              <a:t>21188</a:t>
            </a:r>
            <a:r>
              <a:rPr>
                <a:solidFill>
                  <a:srgbClr val="06287E"/>
                </a:solidFill>
                <a:latin typeface="Courier"/>
              </a:rPr>
              <a:t>,</a:t>
            </a:r>
            <a:br/>
            <a:r>
              <a:rPr>
                <a:latin typeface="Courier"/>
              </a:rPr>
              <a:t>      </a:t>
            </a:r>
            <a:r>
              <a:rPr>
                <a:solidFill>
                  <a:srgbClr val="902000"/>
                </a:solidFill>
                <a:latin typeface="Courier"/>
              </a:rPr>
              <a:t>"output_tokens"</a:t>
            </a:r>
            <a:r>
              <a:rPr>
                <a:solidFill>
                  <a:srgbClr val="06287E"/>
                </a:solidFill>
                <a:latin typeface="Courier"/>
              </a:rPr>
              <a:t>:</a:t>
            </a:r>
            <a:r>
              <a:rPr>
                <a:latin typeface="Courier"/>
              </a:rPr>
              <a:t> </a:t>
            </a:r>
            <a:r>
              <a:rPr>
                <a:solidFill>
                  <a:srgbClr val="40A070"/>
                </a:solidFill>
                <a:latin typeface="Courier"/>
              </a:rPr>
              <a:t>59323</a:t>
            </a:r>
            <a:r>
              <a:rPr>
                <a:solidFill>
                  <a:srgbClr val="06287E"/>
                </a:solidFill>
                <a:latin typeface="Courier"/>
              </a:rPr>
              <a:t>,</a:t>
            </a:r>
            <a:br/>
            <a:r>
              <a:rPr>
                <a:latin typeface="Courier"/>
              </a:rPr>
              <a:t>      </a:t>
            </a:r>
            <a:r>
              <a:rPr>
                <a:solidFill>
                  <a:srgbClr val="902000"/>
                </a:solidFill>
                <a:latin typeface="Courier"/>
              </a:rPr>
              <a:t>"Full raw LLM response"</a:t>
            </a:r>
            <a:r>
              <a:rPr>
                <a:solidFill>
                  <a:srgbClr val="06287E"/>
                </a:solidFill>
                <a:latin typeface="Courier"/>
              </a:rPr>
              <a:t>:</a:t>
            </a:r>
            <a:br/>
            <a:r>
              <a:rPr>
                <a:solidFill>
                  <a:srgbClr val="4070A0"/>
                </a:solidFill>
                <a:latin typeface="Courier"/>
              </a:rPr>
              <a:t>"### What the examples show</a:t>
            </a:r>
            <a:br/>
            <a:br/>
            <a:r>
              <a:rPr>
                <a:solidFill>
                  <a:srgbClr val="4070A0"/>
                </a:solidFill>
                <a:latin typeface="Courier"/>
              </a:rPr>
              <a:t>In every example, the foreground pixels form</a:t>
            </a:r>
            <a:br/>
            <a:r>
              <a:rPr>
                <a:solidFill>
                  <a:srgbClr val="4070A0"/>
                </a:solidFill>
                <a:latin typeface="Courier"/>
              </a:rPr>
              <a:t>several **separate components** of two types:</a:t>
            </a:r>
            <a:br/>
            <a:br/>
            <a:r>
              <a:rPr>
                <a:solidFill>
                  <a:srgbClr val="4070A0"/>
                </a:solidFill>
                <a:latin typeface="Courier"/>
              </a:rPr>
              <a:t>1. **Frames (loops):** ... every such component</a:t>
            </a:r>
            <a:br/>
            <a:r>
              <a:rPr>
                <a:solidFill>
                  <a:srgbClr val="4070A0"/>
                </a:solidFill>
                <a:latin typeface="Courier"/>
              </a:rPr>
              <a:t>   becomes a **perfect axis-aligned rectangular</a:t>
            </a:r>
            <a:br/>
            <a:r>
              <a:rPr>
                <a:solidFill>
                  <a:srgbClr val="4070A0"/>
                </a:solidFill>
                <a:latin typeface="Courier"/>
              </a:rPr>
              <a:t>   border** (thickness 1).</a:t>
            </a:r>
            <a:br/>
            <a:r>
              <a:rPr>
                <a:solidFill>
                  <a:srgbClr val="4070A0"/>
                </a:solidFill>
                <a:latin typeface="Courier"/>
              </a:rPr>
              <a:t>2. **Markers (solid small components):** ...</a:t>
            </a:r>
            <a:br/>
            <a:r>
              <a:rPr>
                <a:solidFill>
                  <a:srgbClr val="4070A0"/>
                </a:solidFill>
                <a:latin typeface="Courier"/>
              </a:rPr>
              <a:t>   each marker is reduced to a **single</a:t>
            </a:r>
            <a:br/>
            <a:r>
              <a:rPr>
                <a:solidFill>
                  <a:srgbClr val="4070A0"/>
                </a:solidFill>
                <a:latin typeface="Courier"/>
              </a:rPr>
              <a:t>   foreground cell**.</a:t>
            </a:r>
            <a:br/>
            <a:r>
              <a:rPr>
                <a:solidFill>
                  <a:srgbClr val="4070A0"/>
                </a:solidFill>
                <a:latin typeface="Courier"/>
              </a:rPr>
              <a:t>...</a:t>
            </a:r>
            <a:br/>
            <a:r>
              <a:rPr>
                <a:solidFill>
                  <a:srgbClr val="4070A0"/>
                </a:solidFill>
                <a:latin typeface="Courier"/>
              </a:rPr>
              <a:t>### Applying to the test input</a:t>
            </a:r>
            <a:br/>
            <a:r>
              <a:rPr>
                <a:solidFill>
                  <a:srgbClr val="4070A0"/>
                </a:solidFill>
                <a:latin typeface="Courier"/>
              </a:rPr>
              <a:t>- Background color = **7**, foreground = **9**.</a:t>
            </a:r>
            <a:br/>
            <a:r>
              <a:rPr>
                <a:solidFill>
                  <a:srgbClr val="4070A0"/>
                </a:solidFill>
                <a:latin typeface="Courier"/>
              </a:rPr>
              <a:t>- One **outer loop frame**, one **inner loop</a:t>
            </a:r>
            <a:br/>
            <a:r>
              <a:rPr>
                <a:solidFill>
                  <a:srgbClr val="4070A0"/>
                </a:solidFill>
                <a:latin typeface="Courier"/>
              </a:rPr>
              <a:t>  frame** inside it, ... two **markers**</a:t>
            </a:r>
            <a:br/>
            <a:r>
              <a:rPr>
                <a:solidFill>
                  <a:srgbClr val="4070A0"/>
                </a:solidFill>
                <a:latin typeface="Courier"/>
              </a:rPr>
              <a:t>  inside, side-by-side ⇒ **horizontal**.</a:t>
            </a:r>
            <a:br/>
            <a:r>
              <a:rPr>
                <a:solidFill>
                  <a:srgbClr val="4070A0"/>
                </a:solidFill>
                <a:latin typeface="Courier"/>
              </a:rPr>
              <a:t>... outer size **9 rows × 13 columns**."</a:t>
            </a:r>
            <a:r>
              <a:rPr>
                <a:solidFill>
                  <a:srgbClr val="06287E"/>
                </a:solidFill>
                <a:latin typeface="Courier"/>
              </a:rPr>
              <a:t>,</a:t>
            </a:r>
            <a:br/>
            <a:r>
              <a:rPr>
                <a:latin typeface="Courier"/>
              </a:rPr>
              <a:t>      </a:t>
            </a:r>
            <a:r>
              <a:rPr>
                <a:solidFill>
                  <a:srgbClr val="902000"/>
                </a:solidFill>
                <a:latin typeface="Courier"/>
              </a:rPr>
              <a:t>"Extracted grid"</a:t>
            </a:r>
            <a:r>
              <a:rPr>
                <a:solidFill>
                  <a:srgbClr val="06287E"/>
                </a:solidFill>
                <a:latin typeface="Courier"/>
              </a:rPr>
              <a:t>:</a:t>
            </a:r>
            <a:r>
              <a:rPr>
                <a:latin typeface="Courier"/>
              </a:rPr>
              <a:t> </a:t>
            </a:r>
            <a:r>
              <a:rPr>
                <a:solidFill>
                  <a:srgbClr val="007020"/>
                </a:solidFill>
                <a:latin typeface="Courier"/>
              </a:rPr>
              <a:t>[</a:t>
            </a:r>
            <a:r>
              <a:rPr b="1">
                <a:solidFill>
                  <a:srgbClr val="FF0000"/>
                </a:solidFill>
                <a:latin typeface="Courier"/>
              </a:rPr>
              <a:t>...</a:t>
            </a:r>
            <a:r>
              <a:rPr>
                <a:solidFill>
                  <a:srgbClr val="007020"/>
                </a:solidFill>
                <a:latin typeface="Courier"/>
              </a:rPr>
              <a:t>]</a:t>
            </a:r>
            <a:br/>
            <a:r>
              <a:rPr>
                <a:latin typeface="Courier"/>
              </a:rPr>
              <a:t>    </a:t>
            </a:r>
            <a:r>
              <a:rPr>
                <a:solidFill>
                  <a:srgbClr val="06287E"/>
                </a:solidFill>
                <a:latin typeface="Courier"/>
              </a:rPr>
              <a:t>},</a:t>
            </a:r>
            <a:r>
              <a:rPr>
                <a:latin typeface="Courier"/>
              </a:rPr>
              <a:t> </a:t>
            </a:r>
            <a:r>
              <a:rPr b="1">
                <a:solidFill>
                  <a:srgbClr val="FF0000"/>
                </a:solidFill>
                <a:latin typeface="Courier"/>
              </a:rPr>
              <a:t>...</a:t>
            </a:r>
            <a:br/>
            <a:r>
              <a:rPr>
                <a:latin typeface="Courier"/>
              </a:rPr>
              <a:t>  </a:t>
            </a:r>
            <a:r>
              <a:rPr>
                <a:solidFill>
                  <a:srgbClr val="06287E"/>
                </a:solidFill>
                <a:latin typeface="Courier"/>
              </a:rPr>
              <a:t>},</a:t>
            </a:r>
            <a:r>
              <a:rPr>
                <a:latin typeface="Courier"/>
              </a:rPr>
              <a:t> </a:t>
            </a:r>
            <a:r>
              <a:rPr b="1">
                <a:solidFill>
                  <a:srgbClr val="FF0000"/>
                </a:solidFill>
                <a:latin typeface="Courier"/>
              </a:rPr>
              <a:t>...</a:t>
            </a:r>
            <a:br/>
            <a:r>
              <a:rPr>
                <a:solidFill>
                  <a:srgbClr val="06287E"/>
                </a:solidFill>
                <a:latin typeface="Courier"/>
              </a:rPr>
              <a:t>}</a:t>
            </a:r>
          </a:p>
        </p:txBody>
      </p:sp>
      <p:sp>
        <p:nvSpPr>
          <p:cNvPr id="4" name="Content Placeholder 3"/>
          <p:cNvSpPr>
            <a:spLocks noGrp="1"/>
          </p:cNvSpPr>
          <p:nvPr>
            <p:ph idx="2" sz="half"/>
          </p:nvPr>
        </p:nvSpPr>
        <p:spPr/>
        <p:txBody>
          <a:bodyPr/>
          <a:lstStyle/>
          <a:p>
            <a:pPr lvl="0" indent="0" marL="0">
              <a:buNone/>
            </a:pPr>
            <a:r>
              <a:rPr b="1"/>
              <a:t>Judge’s selection rationale</a:t>
            </a:r>
            <a:r>
              <a:rPr/>
              <a:t> — GPT-5.2 x-high × 3; all 3 picked correctly</a:t>
            </a:r>
          </a:p>
          <a:p>
            <a:pPr lvl="0" indent="0">
              <a:buNone/>
            </a:pPr>
            <a:r>
              <a:rPr b="1">
                <a:solidFill>
                  <a:srgbClr val="FF0000"/>
                </a:solidFill>
                <a:latin typeface="Courier"/>
              </a:rPr>
              <a:t>//</a:t>
            </a:r>
            <a:r>
              <a:rPr>
                <a:latin typeface="Courier"/>
              </a:rPr>
              <a:t> </a:t>
            </a:r>
            <a:r>
              <a:rPr b="1">
                <a:solidFill>
                  <a:srgbClr val="FF0000"/>
                </a:solidFill>
                <a:latin typeface="Courier"/>
              </a:rPr>
              <a:t>logs/</a:t>
            </a:r>
            <a:r>
              <a:rPr>
                <a:solidFill>
                  <a:srgbClr val="40A070"/>
                </a:solidFill>
                <a:latin typeface="Courier"/>
              </a:rPr>
              <a:t>2026</a:t>
            </a:r>
            <a:r>
              <a:rPr b="1">
                <a:solidFill>
                  <a:srgbClr val="FF0000"/>
                </a:solidFill>
                <a:latin typeface="Courier"/>
              </a:rPr>
              <a:t>-01-04_</a:t>
            </a:r>
            <a:r>
              <a:rPr>
                <a:solidFill>
                  <a:srgbClr val="40A070"/>
                </a:solidFill>
                <a:latin typeface="Courier"/>
              </a:rPr>
              <a:t>22</a:t>
            </a:r>
            <a:r>
              <a:rPr b="1">
                <a:solidFill>
                  <a:srgbClr val="FF0000"/>
                </a:solidFill>
                <a:latin typeface="Courier"/>
              </a:rPr>
              <a:t>-09</a:t>
            </a:r>
            <a:r>
              <a:rPr>
                <a:solidFill>
                  <a:srgbClr val="40A070"/>
                </a:solidFill>
                <a:latin typeface="Courier"/>
              </a:rPr>
              <a:t>-54</a:t>
            </a:r>
            <a:r>
              <a:rPr b="1">
                <a:solidFill>
                  <a:srgbClr val="FF0000"/>
                </a:solidFill>
                <a:latin typeface="Courier"/>
              </a:rPr>
              <a:t>_</a:t>
            </a:r>
            <a:r>
              <a:rPr>
                <a:solidFill>
                  <a:srgbClr val="40A070"/>
                </a:solidFill>
                <a:latin typeface="Courier"/>
              </a:rPr>
              <a:t>2</a:t>
            </a:r>
            <a:r>
              <a:rPr b="1">
                <a:solidFill>
                  <a:srgbClr val="FF0000"/>
                </a:solidFill>
                <a:latin typeface="Courier"/>
              </a:rPr>
              <a:t>d0172a1_</a:t>
            </a:r>
            <a:r>
              <a:rPr>
                <a:solidFill>
                  <a:srgbClr val="40A070"/>
                </a:solidFill>
                <a:latin typeface="Courier"/>
              </a:rPr>
              <a:t>1</a:t>
            </a:r>
            <a:r>
              <a:rPr b="1">
                <a:solidFill>
                  <a:srgbClr val="FF0000"/>
                </a:solidFill>
                <a:latin typeface="Courier"/>
              </a:rPr>
              <a:t>_step_finish.json</a:t>
            </a:r>
            <a:br/>
            <a:r>
              <a:rPr>
                <a:solidFill>
                  <a:srgbClr val="06287E"/>
                </a:solidFill>
                <a:latin typeface="Courier"/>
              </a:rPr>
              <a:t>{</a:t>
            </a:r>
            <a:br/>
            <a:r>
              <a:rPr>
                <a:latin typeface="Courier"/>
              </a:rPr>
              <a:t>  </a:t>
            </a:r>
            <a:r>
              <a:rPr b="1">
                <a:solidFill>
                  <a:srgbClr val="FF0000"/>
                </a:solidFill>
                <a:latin typeface="Courier"/>
              </a:rPr>
              <a:t>...</a:t>
            </a:r>
            <a:br/>
            <a:r>
              <a:rPr>
                <a:latin typeface="Courier"/>
              </a:rPr>
              <a:t>  </a:t>
            </a:r>
            <a:r>
              <a:rPr>
                <a:solidFill>
                  <a:srgbClr val="902000"/>
                </a:solidFill>
                <a:latin typeface="Courier"/>
              </a:rPr>
              <a:t>"selection_details"</a:t>
            </a:r>
            <a:r>
              <a:rPr>
                <a:solidFill>
                  <a:srgbClr val="06287E"/>
                </a:solidFill>
                <a:latin typeface="Courier"/>
              </a:rPr>
              <a:t>:</a:t>
            </a:r>
            <a:r>
              <a:rPr>
                <a:latin typeface="Courier"/>
              </a:rPr>
              <a:t> </a:t>
            </a:r>
            <a:r>
              <a:rPr>
                <a:solidFill>
                  <a:srgbClr val="06287E"/>
                </a:solidFill>
                <a:latin typeface="Courier"/>
              </a:rPr>
              <a:t>{</a:t>
            </a:r>
            <a:br/>
            <a:r>
              <a:rPr>
                <a:latin typeface="Courier"/>
              </a:rPr>
              <a:t>    </a:t>
            </a:r>
            <a:r>
              <a:rPr>
                <a:solidFill>
                  <a:srgbClr val="902000"/>
                </a:solidFill>
                <a:latin typeface="Courier"/>
              </a:rPr>
              <a:t>"judges"</a:t>
            </a:r>
            <a:r>
              <a:rPr>
                <a:solidFill>
                  <a:srgbClr val="06287E"/>
                </a:solidFill>
                <a:latin typeface="Courier"/>
              </a:rPr>
              <a:t>:</a:t>
            </a:r>
            <a:r>
              <a:rPr>
                <a:latin typeface="Courier"/>
              </a:rPr>
              <a:t> </a:t>
            </a:r>
            <a:r>
              <a:rPr>
                <a:solidFill>
                  <a:srgbClr val="06287E"/>
                </a:solidFill>
                <a:latin typeface="Courier"/>
              </a:rPr>
              <a:t>{</a:t>
            </a:r>
            <a:br/>
            <a:r>
              <a:rPr>
                <a:latin typeface="Courier"/>
              </a:rPr>
              <a:t>      </a:t>
            </a:r>
            <a:r>
              <a:rPr>
                <a:solidFill>
                  <a:srgbClr val="902000"/>
                </a:solidFill>
                <a:latin typeface="Courier"/>
              </a:rPr>
              <a:t>"duo_pick_council"</a:t>
            </a:r>
            <a:r>
              <a:rPr>
                <a:solidFill>
                  <a:srgbClr val="06287E"/>
                </a:solidFill>
                <a:latin typeface="Courier"/>
              </a:rPr>
              <a:t>:</a:t>
            </a:r>
            <a:r>
              <a:rPr>
                <a:latin typeface="Courier"/>
              </a:rPr>
              <a:t> </a:t>
            </a:r>
            <a:r>
              <a:rPr>
                <a:solidFill>
                  <a:srgbClr val="007020"/>
                </a:solidFill>
                <a:latin typeface="Courier"/>
              </a:rPr>
              <a:t>[</a:t>
            </a:r>
            <a:br/>
            <a:r>
              <a:rPr>
                <a:latin typeface="Courier"/>
              </a:rPr>
              <a:t>        </a:t>
            </a:r>
            <a:r>
              <a:rPr b="1">
                <a:solidFill>
                  <a:srgbClr val="FF0000"/>
                </a:solidFill>
                <a:latin typeface="Courier"/>
              </a:rPr>
              <a:t>...</a:t>
            </a:r>
            <a:r>
              <a:rPr>
                <a:solidFill>
                  <a:srgbClr val="007020"/>
                </a:solidFill>
                <a:latin typeface="Courier"/>
              </a:rPr>
              <a:t>,</a:t>
            </a:r>
            <a:r>
              <a:rPr>
                <a:latin typeface="Courier"/>
              </a:rPr>
              <a:t> </a:t>
            </a:r>
            <a:r>
              <a:rPr>
                <a:solidFill>
                  <a:srgbClr val="06287E"/>
                </a:solidFill>
                <a:latin typeface="Courier"/>
              </a:rPr>
              <a:t>{</a:t>
            </a:r>
            <a:br/>
            <a:r>
              <a:rPr>
                <a:latin typeface="Courier"/>
              </a:rPr>
              <a:t>          </a:t>
            </a:r>
            <a:r>
              <a:rPr>
                <a:solidFill>
                  <a:srgbClr val="902000"/>
                </a:solidFill>
                <a:latin typeface="Courier"/>
              </a:rPr>
              <a:t>"model"</a:t>
            </a:r>
            <a:r>
              <a:rPr>
                <a:solidFill>
                  <a:srgbClr val="06287E"/>
                </a:solidFill>
                <a:latin typeface="Courier"/>
              </a:rPr>
              <a:t>:</a:t>
            </a:r>
            <a:r>
              <a:rPr>
                <a:latin typeface="Courier"/>
              </a:rPr>
              <a:t> </a:t>
            </a:r>
            <a:r>
              <a:rPr>
                <a:solidFill>
                  <a:srgbClr val="4070A0"/>
                </a:solidFill>
                <a:latin typeface="Courier"/>
              </a:rPr>
              <a:t>"gpt-5.2-xhigh"</a:t>
            </a:r>
            <a:r>
              <a:rPr>
                <a:solidFill>
                  <a:srgbClr val="06287E"/>
                </a:solidFill>
                <a:latin typeface="Courier"/>
              </a:rPr>
              <a:t>,</a:t>
            </a:r>
            <a:br/>
            <a:r>
              <a:rPr>
                <a:latin typeface="Courier"/>
              </a:rPr>
              <a:t>          </a:t>
            </a:r>
            <a:r>
              <a:rPr>
                <a:solidFill>
                  <a:srgbClr val="902000"/>
                </a:solidFill>
                <a:latin typeface="Courier"/>
              </a:rPr>
              <a:t>"response"</a:t>
            </a:r>
            <a:r>
              <a:rPr>
                <a:solidFill>
                  <a:srgbClr val="06287E"/>
                </a:solidFill>
                <a:latin typeface="Courier"/>
              </a:rPr>
              <a:t>:</a:t>
            </a:r>
            <a:br/>
            <a:r>
              <a:rPr>
                <a:solidFill>
                  <a:srgbClr val="4070A0"/>
                </a:solidFill>
                <a:latin typeface="Courier"/>
              </a:rPr>
              <a:t>"Across the four solved examples, the</a:t>
            </a:r>
            <a:br/>
            <a:r>
              <a:rPr>
                <a:solidFill>
                  <a:srgbClr val="4070A0"/>
                </a:solidFill>
                <a:latin typeface="Courier"/>
              </a:rPr>
              <a:t>consistent mechanic is **topological</a:t>
            </a:r>
            <a:br/>
            <a:r>
              <a:rPr>
                <a:solidFill>
                  <a:srgbClr val="4070A0"/>
                </a:solidFill>
                <a:latin typeface="Courier"/>
              </a:rPr>
              <a:t>normalization**:</a:t>
            </a:r>
            <a:br/>
            <a:r>
              <a:rPr>
                <a:solidFill>
                  <a:srgbClr val="4070A0"/>
                </a:solidFill>
                <a:latin typeface="Courier"/>
              </a:rPr>
              <a:t>- Each **loop** becomes a **perfect 1-cell-</a:t>
            </a:r>
            <a:br/>
            <a:r>
              <a:rPr>
                <a:solidFill>
                  <a:srgbClr val="4070A0"/>
                </a:solidFill>
                <a:latin typeface="Courier"/>
              </a:rPr>
              <a:t>  thick rectangular frame**.</a:t>
            </a:r>
            <a:br/>
            <a:r>
              <a:rPr>
                <a:solidFill>
                  <a:srgbClr val="4070A0"/>
                </a:solidFill>
                <a:latin typeface="Courier"/>
              </a:rPr>
              <a:t>- Each **solid component** becomes a</a:t>
            </a:r>
            <a:br/>
            <a:r>
              <a:rPr>
                <a:solidFill>
                  <a:srgbClr val="4070A0"/>
                </a:solidFill>
                <a:latin typeface="Courier"/>
              </a:rPr>
              <a:t>  **single foreground cell (a dot)**.</a:t>
            </a:r>
            <a:br/>
            <a:r>
              <a:rPr>
                <a:solidFill>
                  <a:srgbClr val="4070A0"/>
                </a:solidFill>
                <a:latin typeface="Courier"/>
              </a:rPr>
              <a:t>...</a:t>
            </a:r>
            <a:br/>
            <a:r>
              <a:rPr>
                <a:solidFill>
                  <a:srgbClr val="4070A0"/>
                </a:solidFill>
                <a:latin typeface="Courier"/>
              </a:rPr>
              <a:t>The two that best match the examples *and*</a:t>
            </a:r>
            <a:br/>
            <a:r>
              <a:rPr>
                <a:solidFill>
                  <a:srgbClr val="4070A0"/>
                </a:solidFill>
                <a:latin typeface="Courier"/>
              </a:rPr>
              <a:t>the apparent test structure are:</a:t>
            </a:r>
            <a:br/>
            <a:r>
              <a:rPr>
                <a:solidFill>
                  <a:srgbClr val="4070A0"/>
                </a:solidFill>
                <a:latin typeface="Courier"/>
              </a:rPr>
              <a:t>- **Solution 10**: outer frame contains an</a:t>
            </a:r>
            <a:br/>
            <a:r>
              <a:rPr>
                <a:solidFill>
                  <a:srgbClr val="4070A0"/>
                </a:solidFill>
                <a:latin typeface="Courier"/>
              </a:rPr>
              <a:t>  inner frame **plus an extra dot to the</a:t>
            </a:r>
            <a:br/>
            <a:r>
              <a:rPr>
                <a:solidFill>
                  <a:srgbClr val="4070A0"/>
                </a:solidFill>
                <a:latin typeface="Courier"/>
              </a:rPr>
              <a:t>  right** (matching the extra small</a:t>
            </a:r>
            <a:br/>
            <a:r>
              <a:rPr>
                <a:solidFill>
                  <a:srgbClr val="4070A0"/>
                </a:solidFill>
                <a:latin typeface="Courier"/>
              </a:rPr>
              <a:t>  disconnected 9-component at cols ~20–21</a:t>
            </a:r>
            <a:br/>
            <a:r>
              <a:rPr>
                <a:solidFill>
                  <a:srgbClr val="4070A0"/>
                </a:solidFill>
                <a:latin typeface="Courier"/>
              </a:rPr>
              <a:t>  in the test input) ...</a:t>
            </a:r>
            <a:br/>
            <a:r>
              <a:rPr>
                <a:solidFill>
                  <a:srgbClr val="4070A0"/>
                </a:solidFill>
                <a:latin typeface="Courier"/>
              </a:rPr>
              <a:t>- **Solution 6/7**: the same, but **without**</a:t>
            </a:r>
            <a:br/>
            <a:r>
              <a:rPr>
                <a:solidFill>
                  <a:srgbClr val="4070A0"/>
                </a:solidFill>
                <a:latin typeface="Courier"/>
              </a:rPr>
              <a:t>  the extra right-side dot.</a:t>
            </a:r>
            <a:br/>
            <a:r>
              <a:rPr>
                <a:solidFill>
                  <a:srgbClr val="4070A0"/>
                </a:solidFill>
                <a:latin typeface="Courier"/>
              </a:rPr>
              <a:t>### Candidate 1 (most likely): Solution 10"</a:t>
            </a:r>
            <a:r>
              <a:rPr>
                <a:solidFill>
                  <a:srgbClr val="06287E"/>
                </a:solidFill>
                <a:latin typeface="Courier"/>
              </a:rPr>
              <a:t>,</a:t>
            </a:r>
            <a:br/>
            <a:r>
              <a:rPr>
                <a:latin typeface="Courier"/>
              </a:rPr>
              <a:t>          </a:t>
            </a:r>
            <a:r>
              <a:rPr>
                <a:solidFill>
                  <a:srgbClr val="902000"/>
                </a:solidFill>
                <a:latin typeface="Courier"/>
              </a:rPr>
              <a:t>"picked_grids"</a:t>
            </a:r>
            <a:r>
              <a:rPr>
                <a:solidFill>
                  <a:srgbClr val="06287E"/>
                </a:solidFill>
                <a:latin typeface="Courier"/>
              </a:rPr>
              <a:t>:</a:t>
            </a:r>
            <a:r>
              <a:rPr>
                <a:latin typeface="Courier"/>
              </a:rPr>
              <a:t> </a:t>
            </a:r>
            <a:r>
              <a:rPr>
                <a:solidFill>
                  <a:srgbClr val="007020"/>
                </a:solidFill>
                <a:latin typeface="Courier"/>
              </a:rPr>
              <a:t>[</a:t>
            </a:r>
            <a:r>
              <a:rPr b="1">
                <a:solidFill>
                  <a:srgbClr val="FF0000"/>
                </a:solidFill>
                <a:latin typeface="Courier"/>
              </a:rPr>
              <a:t>...</a:t>
            </a:r>
            <a:r>
              <a:rPr>
                <a:solidFill>
                  <a:srgbClr val="007020"/>
                </a:solidFill>
                <a:latin typeface="Courier"/>
              </a:rPr>
              <a:t>]</a:t>
            </a:r>
            <a:br/>
            <a:r>
              <a:rPr>
                <a:latin typeface="Courier"/>
              </a:rPr>
              <a:t>        </a:t>
            </a:r>
            <a:r>
              <a:rPr>
                <a:solidFill>
                  <a:srgbClr val="06287E"/>
                </a:solidFill>
                <a:latin typeface="Courier"/>
              </a:rPr>
              <a:t>}</a:t>
            </a:r>
            <a:r>
              <a:rPr>
                <a:solidFill>
                  <a:srgbClr val="007020"/>
                </a:solidFill>
                <a:latin typeface="Courier"/>
              </a:rPr>
              <a:t>,</a:t>
            </a:r>
            <a:r>
              <a:rPr>
                <a:latin typeface="Courier"/>
              </a:rPr>
              <a:t> </a:t>
            </a:r>
            <a:r>
              <a:rPr b="1">
                <a:solidFill>
                  <a:srgbClr val="FF0000"/>
                </a:solidFill>
                <a:latin typeface="Courier"/>
              </a:rPr>
              <a:t>...</a:t>
            </a:r>
            <a:br/>
            <a:r>
              <a:rPr>
                <a:latin typeface="Courier"/>
              </a:rPr>
              <a:t>      </a:t>
            </a:r>
            <a:r>
              <a:rPr>
                <a:solidFill>
                  <a:srgbClr val="007020"/>
                </a:solidFill>
                <a:latin typeface="Courier"/>
              </a:rPr>
              <a:t>]</a:t>
            </a:r>
            <a:br/>
            <a:r>
              <a:rPr>
                <a:latin typeface="Courier"/>
              </a:rPr>
              <a:t>    </a:t>
            </a:r>
            <a:r>
              <a:rPr>
                <a:solidFill>
                  <a:srgbClr val="06287E"/>
                </a:solidFill>
                <a:latin typeface="Courier"/>
              </a:rPr>
              <a:t>}</a:t>
            </a:r>
            <a:br/>
            <a:r>
              <a:rPr>
                <a:latin typeface="Courier"/>
              </a:rPr>
              <a:t>  </a:t>
            </a:r>
            <a:r>
              <a:rPr>
                <a:solidFill>
                  <a:srgbClr val="06287E"/>
                </a:solidFill>
                <a:latin typeface="Courier"/>
              </a:rPr>
              <a:t>},</a:t>
            </a:r>
            <a:br/>
            <a:r>
              <a:rPr>
                <a:latin typeface="Courier"/>
              </a:rPr>
              <a:t>  </a:t>
            </a:r>
            <a:r>
              <a:rPr>
                <a:solidFill>
                  <a:srgbClr val="902000"/>
                </a:solidFill>
                <a:latin typeface="Courier"/>
              </a:rPr>
              <a:t>"result"</a:t>
            </a:r>
            <a:r>
              <a:rPr>
                <a:solidFill>
                  <a:srgbClr val="06287E"/>
                </a:solidFill>
                <a:latin typeface="Courier"/>
              </a:rPr>
              <a:t>:</a:t>
            </a:r>
            <a:r>
              <a:rPr>
                <a:latin typeface="Courier"/>
              </a:rPr>
              <a:t> </a:t>
            </a:r>
            <a:r>
              <a:rPr>
                <a:solidFill>
                  <a:srgbClr val="4070A0"/>
                </a:solidFill>
                <a:latin typeface="Courier"/>
              </a:rPr>
              <a:t>"PASS"</a:t>
            </a:r>
            <a:br/>
            <a:r>
              <a:rPr>
                <a:solidFill>
                  <a:srgbClr val="06287E"/>
                </a:solidFill>
                <a:latin typeface="Courier"/>
              </a:rPr>
              <a:t>}</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Raw JSON from the public-eval logs; </a:t>
            </a:r>
            <a:r>
              <a:rPr>
                <a:latin typeface="Courier"/>
              </a:rPr>
              <a:t>"..."</a:t>
            </a:r>
            <a:r>
              <a:rPr/>
              <a:t> marks elided fields. Judges read </a:t>
            </a:r>
            <a:r>
              <a:rPr i="1"/>
              <a:t>full reasoning</a:t>
            </a:r>
            <a:r>
              <a:rPr/>
              <a:t> of all 29 candidates ⇒ minority recovery.</a:t>
            </a:r>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(1) + (2) across 130 tasks — modality contributions and judges’ verdicts</a:t>
            </a:r>
          </a:p>
        </p:txBody>
      </p:sp>
      <p:pic>
        <p:nvPicPr>
          <p:cNvPr descr="figures/methodology_matrix.png" id="0" name="Picture 1"/>
          <p:cNvPicPr>
            <a:picLocks noGrp="1" noChangeAspect="1"/>
          </p:cNvPicPr>
          <p:nvPr/>
        </p:nvPicPr>
        <p:blipFill>
          <a:blip r:embed="rId3"/>
          <a:stretch>
            <a:fillRect/>
          </a:stretch>
        </p:blipFill>
        <p:spPr bwMode="auto">
          <a:xfrm>
            <a:off x="2070100" y="1193800"/>
            <a:ext cx="825500" cy="3390900"/>
          </a:xfrm>
          <a:prstGeom prst="rect">
            <a:avLst/>
          </a:prstGeom>
          <a:noFill/>
          <a:ln w="9525">
            <a:noFill/>
            <a:headEnd/>
            <a:tailEnd/>
          </a:ln>
        </p:spPr>
      </p:pic>
      <p:sp>
        <p:nvSpPr>
          <p:cNvPr id="4" name="Content Placeholder 3"/>
          <p:cNvSpPr>
            <a:spLocks noGrp="1"/>
          </p:cNvSpPr>
          <p:nvPr>
            <p:ph idx="2" sz="half"/>
          </p:nvPr>
        </p:nvSpPr>
        <p:spPr/>
        <p:txBody>
          <a:bodyPr/>
          <a:lstStyle/>
          <a:p>
            <a:pPr lvl="0" indent="0" marL="0">
              <a:buNone/>
            </a:pPr>
            <a:r>
              <a:rPr b="1"/>
              <a:t>How to read</a:t>
            </a:r>
            <a:r>
              <a:rPr/>
              <a:t> (one row = one of </a:t>
            </a:r>
            <a:r>
              <a:rPr b="1"/>
              <a:t>130 instances</a:t>
            </a:r>
            <a:r>
              <a:rPr/>
              <a:t> with full 29-candidate coverage):</a:t>
            </a:r>
          </a:p>
          <a:p>
            <a:pPr lvl="0"/>
            <a:r>
              <a:rPr b="1"/>
              <a:t>Judges column</a:t>
            </a:r>
            <a:r>
              <a:rPr/>
              <a:t> (leftmost): the system’s final pass@2 verdict — did the holistic judges submit a correct answer?</a:t>
            </a:r>
          </a:p>
          <a:p>
            <a:pPr lvl="0"/>
            <a:r>
              <a:rPr/>
              <a:t>Other columns grouped by modality family — </a:t>
            </a:r>
            <a:r>
              <a:rPr b="1"/>
              <a:t>Text</a:t>
            </a:r>
            <a:r>
              <a:rPr/>
              <a:t> · </a:t>
            </a:r>
            <a:r>
              <a:rPr b="1"/>
              <a:t>Image</a:t>
            </a:r>
            <a:r>
              <a:rPr/>
              <a:t> · </a:t>
            </a:r>
            <a:r>
              <a:rPr b="1"/>
              <a:t>Code</a:t>
            </a:r>
            <a:r>
              <a:rPr/>
              <a:t> — each sub-column = one model/config candidate</a:t>
            </a:r>
          </a:p>
          <a:p>
            <a:pPr lvl="0"/>
            <a:r>
              <a:rPr b="1"/>
              <a:t>Green</a:t>
            </a:r>
            <a:r>
              <a:rPr/>
              <a:t> = correct · </a:t>
            </a:r>
            <a:r>
              <a:rPr b="1"/>
              <a:t>Red</a:t>
            </a:r>
            <a:r>
              <a:rPr/>
              <a:t> = wrong</a:t>
            </a:r>
          </a:p>
          <a:p>
            <a:pPr lvl="0"/>
            <a:r>
              <a:rPr/>
              <a:t>Rows sorted by difficulty: hardest tasks top, easiest bottom</a:t>
            </a:r>
          </a:p>
          <a:p>
            <a:pPr lvl="0" indent="0" marL="0">
              <a:buNone/>
            </a:pPr>
            <a:r>
              <a:rPr b="1"/>
              <a:t>Three bands tell the story</a:t>
            </a:r>
            <a:r>
              <a:rPr/>
              <a:t>:</a:t>
            </a:r>
          </a:p>
          <a:p>
            <a:pPr lvl="0"/>
            <a:r>
              <a:rPr b="1"/>
              <a:t>Top:</a:t>
            </a:r>
            <a:r>
              <a:rPr/>
              <a:t> all-red rows — generation failures (no modality solved them)</a:t>
            </a:r>
          </a:p>
          <a:p>
            <a:pPr lvl="0"/>
            <a:r>
              <a:rPr b="1"/>
              <a:t>Middle:</a:t>
            </a:r>
            <a:r>
              <a:rPr/>
              <a:t> </a:t>
            </a:r>
            <a:r>
              <a:rPr i="1"/>
              <a:t>scattered green cells in mostly-red rows</a:t>
            </a:r>
            <a:r>
              <a:rPr/>
              <a:t> ⇒ different modalities catch different problems</a:t>
            </a:r>
          </a:p>
          <a:p>
            <a:pPr lvl="0"/>
            <a:r>
              <a:rPr b="1"/>
              <a:t>Bottom:</a:t>
            </a:r>
            <a:r>
              <a:rPr/>
              <a:t> mostly green — the easy tasks (many modalities solve)</a:t>
            </a:r>
          </a:p>
          <a:p>
            <a:pPr lvl="0" indent="0" marL="0">
              <a:buNone/>
            </a:pPr>
            <a:r>
              <a:rPr b="1"/>
              <a:t>Edge case — Judges green, all candidates red</a:t>
            </a:r>
            <a:r>
              <a:rPr/>
              <a:t>: a </a:t>
            </a:r>
            <a:r>
              <a:rPr i="1"/>
              <a:t>judge-synthesis</a:t>
            </a:r>
            <a:r>
              <a:rPr/>
              <a:t> solve. Happens on </a:t>
            </a:r>
            <a:r>
              <a:rPr>
                <a:latin typeface="Courier"/>
              </a:rPr>
              <a:t>21897d95:2</a:t>
            </a:r>
            <a:r>
              <a:rPr/>
              <a:t>: zero candidates correct, but a judge </a:t>
            </a:r>
            <a:r>
              <a:rPr b="1"/>
              <a:t>recombined partial insights</a:t>
            </a:r>
            <a:r>
              <a:rPr/>
              <a:t> across failed candidates into a novel correct output.</a:t>
            </a:r>
          </a:p>
          <a:p>
            <a:pPr lvl="0" indent="0" marL="0">
              <a:buNone/>
            </a:pPr>
            <a:r>
              <a:rPr b="1"/>
              <a:t>What the numbers say</a:t>
            </a:r>
            <a:r>
              <a:rPr/>
              <a:t> (n=130):</a:t>
            </a:r>
          </a:p>
          <a:p>
            <a:pPr lvl="0"/>
            <a:r>
              <a:rPr/>
              <a:t>Exclusive solves: </a:t>
            </a:r>
            <a:r>
              <a:rPr b="1"/>
              <a:t>2 Text-only</a:t>
            </a:r>
            <a:r>
              <a:rPr/>
              <a:t> · </a:t>
            </a:r>
            <a:r>
              <a:rPr b="1"/>
              <a:t>6 Image-only</a:t>
            </a:r>
            <a:r>
              <a:rPr/>
              <a:t> · </a:t>
            </a:r>
            <a:r>
              <a:rPr b="1"/>
              <a:t>7 Code-only</a:t>
            </a:r>
          </a:p>
          <a:p>
            <a:pPr lvl="0"/>
            <a:r>
              <a:rPr/>
              <a:t>Pairwise non-overlap: Code solves </a:t>
            </a:r>
            <a:r>
              <a:rPr b="1"/>
              <a:t>+18</a:t>
            </a:r>
            <a:r>
              <a:rPr/>
              <a:t> over Text · Image solves </a:t>
            </a:r>
            <a:r>
              <a:rPr b="1"/>
              <a:t>+13</a:t>
            </a:r>
            <a:r>
              <a:rPr/>
              <a:t> over Text</a:t>
            </a:r>
          </a:p>
          <a:p>
            <a:pPr lvl="0"/>
            <a:r>
              <a:rPr b="1"/>
              <a:t>Candidate-oracle: 86.2%</a:t>
            </a:r>
            <a:r>
              <a:rPr/>
              <a:t> — a correct candidate exists for 144/167 instances overall</a:t>
            </a:r>
          </a:p>
          <a:p>
            <a:pPr lvl="0"/>
            <a:r>
              <a:rPr/>
              <a:t>Modalities are </a:t>
            </a:r>
            <a:r>
              <a:rPr b="1"/>
              <a:t>not redundant copies</a:t>
            </a:r>
            <a:r>
              <a:rPr/>
              <a:t> of each other</a:t>
            </a:r>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Negative results worth knowing</a:t>
            </a:r>
          </a:p>
        </p:txBody>
      </p:sp>
      <p:sp>
        <p:nvSpPr>
          <p:cNvPr id="3" name="Content Placeholder 2"/>
          <p:cNvSpPr>
            <a:spLocks noGrp="1"/>
          </p:cNvSpPr>
          <p:nvPr>
            <p:ph idx="1"/>
          </p:nvPr>
        </p:nvSpPr>
        <p:spPr/>
        <p:txBody>
          <a:bodyPr/>
          <a:lstStyle/>
          <a:p>
            <a:pPr lvl="0" indent="0" marL="0">
              <a:buNone/>
            </a:pPr>
            <a:r>
              <a:rPr b="1"/>
              <a:t>1. Prescriptive prompting degrades performance.</a:t>
            </a:r>
            <a:r>
              <a:rPr/>
              <a:t> Templates, CoT scaffolding, domain heuristics — all hurt on the hardest tasks. Mechanism: a </a:t>
            </a:r>
            <a:r>
              <a:rPr i="1"/>
              <a:t>compliance tax on reasoning</a:t>
            </a:r>
            <a:r>
              <a:rPr/>
              <a:t> (budget spent following the template instead of solving the problem).</a:t>
            </a:r>
          </a:p>
          <a:p>
            <a:pPr lvl="0" indent="0" marL="0">
              <a:buNone/>
            </a:pPr>
            <a:r>
              <a:rPr b="1"/>
              <a:t>2. Iterative refinement reduces diversity.</a:t>
            </a:r>
            <a:r>
              <a:rPr/>
              <a:t> Refining candidates against each other collapses them onto the same wrong cluster — the exact failure mode we’re trying to escape. Same effect from hint-then-solve pipelines.</a:t>
            </a:r>
          </a:p>
          <a:p>
            <a:pPr lvl="0" indent="0" marL="0">
              <a:buNone/>
            </a:pPr>
            <a:r>
              <a:rPr b="1"/>
              <a:t>3. Pipeline decomposition (objects → transformations → solver) hurts.</a:t>
            </a:r>
            <a:r>
              <a:rPr/>
              <a:t> Brittle handoffs between stages. Both verbose and terse handovers regress toward the mean rather than expand the hypothesis space.</a:t>
            </a:r>
          </a:p>
          <a:p>
            <a:pPr lvl="0" indent="0" marL="0">
              <a:buNone/>
            </a:pPr>
            <a:r>
              <a:rPr b="1"/>
              <a:t>4. Strict JSON outputs underperform CSV.</a:t>
            </a:r>
            <a:r>
              <a:rPr/>
              <a:t> Forcing API-level response-format schemas consistently lost to CSV + robust regex parsing. Strict schemas appear to constrain reasoning quality, not just output shape.</a:t>
            </a:r>
          </a:p>
          <a:p>
            <a:pPr lvl="0" indent="0" marL="0">
              <a:buNone/>
            </a:pPr>
            <a:r>
              <a:rPr b="1"/>
              <a:t>5. Pixel-perfect image renderings hurt.</a:t>
            </a:r>
            <a:r>
              <a:rPr/>
              <a:t> </a:t>
            </a:r>
            <a:r>
              <a:rPr i="1"/>
              <a:t>Slightly distorted</a:t>
            </a:r>
            <a:r>
              <a:rPr/>
              <a:t> renders beat pixel-perfect ones for image-modality candidates. Clean renders push the model into cell-by-cell numerical reasoning; intentional imprecision forces engagement with shapes, symmetries, and spatial relationships — which is the point of image prompting.</a:t>
            </a:r>
          </a:p>
          <a:p>
            <a:pPr lvl="0" indent="0" marL="0">
              <a:buNone/>
            </a:pPr>
            <a:r>
              <a:rPr/>
              <a:t>⇒ </a:t>
            </a:r>
            <a:r>
              <a:rPr b="1"/>
              <a:t>Final system: deliberately minimal prompts, independent generation, no decomposition, CSV I/O, deliberately fuzzy image renders.</a:t>
            </a:r>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Takeaways</a:t>
            </a:r>
          </a:p>
        </p:txBody>
      </p:sp>
      <p:sp>
        <p:nvSpPr>
          <p:cNvPr id="3" name="Content Placeholder 2"/>
          <p:cNvSpPr>
            <a:spLocks noGrp="1"/>
          </p:cNvSpPr>
          <p:nvPr>
            <p:ph idx="1"/>
          </p:nvPr>
        </p:nvSpPr>
        <p:spPr/>
        <p:txBody>
          <a:bodyPr/>
          <a:lstStyle/>
          <a:p>
            <a:pPr lvl="0" indent="0" marL="0">
              <a:buNone/>
            </a:pPr>
            <a:r>
              <a:rPr b="1"/>
              <a:t>(1) Generate broadly</a:t>
            </a:r>
            <a:r>
              <a:rPr/>
              <a:t> — different modalities (text, image, code) and different frontier models, generated </a:t>
            </a:r>
            <a:r>
              <a:rPr i="1"/>
              <a:t>independently</a:t>
            </a:r>
            <a:r>
              <a:rPr/>
              <a:t>. The hypothesis space matters more than the model.</a:t>
            </a:r>
          </a:p>
          <a:p>
            <a:pPr lvl="0" indent="0" marL="0">
              <a:buNone/>
            </a:pPr>
            <a:r>
              <a:rPr b="1"/>
              <a:t>(2) Judge holistically</a:t>
            </a:r>
            <a:r>
              <a:rPr/>
              <a:t> — a long-context judge reads the </a:t>
            </a:r>
            <a:r>
              <a:rPr i="1"/>
              <a:t>full reasoning</a:t>
            </a:r>
            <a:r>
              <a:rPr/>
              <a:t>, not just final answers. Majority voting discards the rare-correct; trace-aware judging recovers it (and occasionally synthesizes a new one).</a:t>
            </a:r>
          </a:p>
          <a:p>
            <a:pPr lvl="0" indent="0" marL="0">
              <a:buNone/>
            </a:pPr>
            <a:r>
              <a:rPr b="1"/>
              <a:t>Where this generalizes:</a:t>
            </a:r>
            <a:r>
              <a:rPr/>
              <a:t> any hard problem where the </a:t>
            </a:r>
            <a:r>
              <a:rPr i="1"/>
              <a:t>reasoning</a:t>
            </a:r>
            <a:r>
              <a:rPr/>
              <a:t> signals correctness — even when the answer itself can’t be verified directly. As in ARC: the judges never see the test output; they assess the </a:t>
            </a:r>
            <a:r>
              <a:rPr b="1"/>
              <a:t>credibility of each trace</a:t>
            </a:r>
            <a:r>
              <a:rPr/>
              <a:t> against the training pairs. Math contests, code review, legal arguments, scientific hypotheses — wherever a careful reader can tell sound reasoning from rationalization.</a:t>
            </a:r>
          </a:p>
          <a:p>
            <a:pPr lvl="0" indent="0" marL="0">
              <a:buNone/>
            </a:pPr>
            <a:r>
              <a:rPr/>
              <a:t>Code: </a:t>
            </a:r>
            <a:r>
              <a:rPr>
                <a:latin typeface="Courier"/>
              </a:rPr>
              <a:t>github.com/beetree/ARC-AGI</a:t>
            </a:r>
            <a:r>
              <a:rPr/>
              <a:t> · Paper QR on title slide</a:t>
            </a:r>
          </a:p>
        </p:txBody>
      </p:sp>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End-to-end walkthrough: </a:t>
            </a:r>
            <a:r>
              <a:rPr>
                <a:latin typeface="Courier"/>
              </a:rPr>
              <a:t>d35bdbdc</a:t>
            </a:r>
          </a:p>
        </p:txBody>
      </p:sp>
      <p:sp>
        <p:nvSpPr>
          <p:cNvPr id="4" name="Text Placeholder 3"/>
          <p:cNvSpPr>
            <a:spLocks noGrp="1"/>
          </p:cNvSpPr>
          <p:nvPr>
            <p:ph idx="2" sz="half" type="body"/>
          </p:nvPr>
        </p:nvSpPr>
        <p:spPr/>
        <p:txBody>
          <a:bodyPr/>
          <a:lstStyle/>
          <a:p>
            <a:pPr lvl="0" indent="0" marL="0">
              <a:buNone/>
            </a:pPr>
            <a:r>
              <a:rPr/>
              <a:t>From 29 candidates → 2 guesses</a:t>
            </a:r>
          </a:p>
        </p:txBody>
      </p:sp>
      <p:pic>
        <p:nvPicPr>
          <p:cNvPr descr="figures/d35bdbdc_1_step_5_common.png" id="0" name="Picture 1"/>
          <p:cNvPicPr>
            <a:picLocks noGrp="1" noChangeAspect="1"/>
          </p:cNvPicPr>
          <p:nvPr/>
        </p:nvPicPr>
        <p:blipFill>
          <a:blip r:embed="rId3"/>
          <a:stretch>
            <a:fillRect/>
          </a:stretch>
        </p:blipFill>
        <p:spPr bwMode="auto">
          <a:xfrm>
            <a:off x="4660900" y="203200"/>
            <a:ext cx="2921000" cy="4381500"/>
          </a:xfrm>
          <a:prstGeom prst="rect">
            <a:avLst/>
          </a:prstGeom>
          <a:noFill/>
          <a:ln w="9525">
            <a:noFill/>
            <a:headEnd/>
            <a:tailEnd/>
          </a:ln>
        </p:spPr>
      </p:pic>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Backup: cost breakdown</a:t>
            </a:r>
          </a:p>
        </p:txBody>
      </p:sp>
      <p:sp>
        <p:nvSpPr>
          <p:cNvPr id="3" name="Content Placeholder 2"/>
          <p:cNvSpPr>
            <a:spLocks noGrp="1"/>
          </p:cNvSpPr>
          <p:nvPr>
            <p:ph idx="1"/>
          </p:nvPr>
        </p:nvSpPr>
        <p:spPr/>
        <p:txBody>
          <a:bodyPr/>
          <a:lstStyle/>
          <a:p>
            <a:pPr lvl="0"/>
            <a:r>
              <a:rPr b="1"/>
              <a:t>Public-eval cost is the representative number: $19.69/task</a:t>
            </a:r>
          </a:p>
          <a:p>
            <a:pPr lvl="0"/>
            <a:r>
              <a:rPr/>
              <a:t>Private $38.99/task inflated by GPT-5.2 API instability (84% failure rate, 2,216/14,106 attempts succeeded)</a:t>
            </a:r>
          </a:p>
          <a:p>
            <a:pPr lvl="0"/>
            <a:r>
              <a:rPr/>
              <a:t>Tool-integrated code generation is the largest line item</a:t>
            </a:r>
          </a:p>
          <a:p>
            <a:pPr lvl="0"/>
            <a:r>
              <a:rPr/>
              <a:t>ZDR mode used in private verification disables tool calls → both lower accuracy and altered cost profile</a:t>
            </a:r>
          </a:p>
          <a:p>
            <a:pPr lvl="0"/>
            <a:r>
              <a:rPr/>
              <a:t>ARC-AGI-1 on the same system: 94.5% at $11.40/task — easier tasks early-exit cheaply</a:t>
            </a:r>
          </a:p>
        </p:txBody>
      </p:sp>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Backup: failure decomposition (167 instances)</a:t>
            </a:r>
          </a:p>
        </p:txBody>
      </p:sp>
      <p:sp>
        <p:nvSpPr>
          <p:cNvPr id="3" name="Content Placeholder 2"/>
          <p:cNvSpPr>
            <a:spLocks noGrp="1"/>
          </p:cNvSpPr>
          <p:nvPr>
            <p:ph idx="1"/>
          </p:nvPr>
        </p:nvSpPr>
        <p:spPr/>
        <p:txBody>
          <a:bodyPr/>
          <a:lstStyle/>
          <a:p>
            <a:pPr lvl="0"/>
            <a:r>
              <a:rPr b="1"/>
              <a:t>128 solved (76.6%)</a:t>
            </a:r>
          </a:p>
          <a:p>
            <a:pPr lvl="0"/>
            <a:r>
              <a:rPr/>
              <a:t>21 generation failures (no correct candidate in pool)</a:t>
            </a:r>
          </a:p>
          <a:p>
            <a:pPr lvl="0"/>
            <a:r>
              <a:rPr/>
              <a:t>1 early-stop failure (</a:t>
            </a:r>
            <a:r>
              <a:rPr>
                <a:latin typeface="Courier"/>
              </a:rPr>
              <a:t>dbff022c:1</a:t>
            </a:r>
            <a:r>
              <a:rPr/>
              <a:t> — extreme groupthink on a legend ambiguity)</a:t>
            </a:r>
          </a:p>
          <a:p>
            <a:pPr lvl="0"/>
            <a:r>
              <a:rPr/>
              <a:t>17 </a:t>
            </a:r>
            <a:r>
              <a:rPr b="1"/>
              <a:t>selection</a:t>
            </a:r>
            <a:r>
              <a:rPr/>
              <a:t> failures (correct candidate exists, judge missed it)</a:t>
            </a:r>
          </a:p>
          <a:p>
            <a:pPr lvl="0"/>
            <a:r>
              <a:rPr/>
              <a:t>1 synthesis success (</a:t>
            </a:r>
            <a:r>
              <a:rPr>
                <a:latin typeface="Courier"/>
              </a:rPr>
              <a:t>21897d95:2</a:t>
            </a:r>
            <a:r>
              <a:rPr/>
              <a:t>)</a:t>
            </a:r>
          </a:p>
          <a:p>
            <a:pPr lvl="0" indent="0" marL="0">
              <a:buNone/>
            </a:pPr>
            <a:r>
              <a:rPr i="1"/>
              <a:t>Most future headroom is in selection, not generation.</a:t>
            </a:r>
          </a:p>
        </p:txBody>
      </p:sp>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Backup: why three judges?</a:t>
            </a:r>
          </a:p>
        </p:txBody>
      </p:sp>
      <p:sp>
        <p:nvSpPr>
          <p:cNvPr id="3" name="Content Placeholder 2"/>
          <p:cNvSpPr>
            <a:spLocks noGrp="1"/>
          </p:cNvSpPr>
          <p:nvPr>
            <p:ph idx="1"/>
          </p:nvPr>
        </p:nvSpPr>
        <p:spPr/>
        <p:txBody>
          <a:bodyPr/>
          <a:lstStyle/>
          <a:p>
            <a:pPr lvl="0"/>
            <a:r>
              <a:rPr/>
              <a:t>Single judge is biased toward its own prior</a:t>
            </a:r>
          </a:p>
          <a:p>
            <a:pPr lvl="0"/>
            <a:r>
              <a:rPr/>
              <a:t>3 parallel judges + weighted scoring (2 pts first, 1 pt second) hedges </a:t>
            </a:r>
            <a:r>
              <a:rPr i="1"/>
              <a:t>within</a:t>
            </a:r>
            <a:r>
              <a:rPr/>
              <a:t> the judging step</a:t>
            </a:r>
          </a:p>
          <a:p>
            <a:pPr lvl="0"/>
            <a:r>
              <a:rPr/>
              <a:t>Pass@2 format lets the final output also hedge across two interpretations when judges disagree</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Modality-Driven Search with Holistic Trace Judging for ARC-AGI-2</dc:title>
  <dc:creator>Johan Land</dc:creator>
  <cp:keywords/>
  <dcterms:created xsi:type="dcterms:W3CDTF">2026-05-28T07:58:41Z</dcterms:created>
  <dcterms:modified xsi:type="dcterms:W3CDTF">2026-05-28T07:58:41Z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date">
    <vt:lpwstr>ICAIBD 2026</vt:lpwstr>
  </property>
  <property fmtid="{D5CDD505-2E9C-101B-9397-08002B2CF9AE}" pid="3" name="subtitle">
    <vt:lpwstr>72.9% verified result, beating frontier models by ~20%</vt:lpwstr>
  </property>
</Properties>
</file>