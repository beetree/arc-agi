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notesMaster" Target="notesMasters/notesMaster1.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sampler — three additional ARC-AGI-2 tasks so the audience sees that the benchmark is not one trick. Don’t try to solve any of these out loud — that eats too much time. Just point at each in turn (~5 seconds each) and characterize them briefly: “shapes colored by a legend,” “objects completed or repaired,” “objects aligned across backgrounds.” Land the punchline: every task has a fresh rule the model has never seen. You have ~40 seconds total for this slide before moving on to the formal definition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formalizes the protocol. The JSON example shows the audience exactly what the model receives — a list of train pairs and a test input — and what it returns (a grid). Don’t read the JSON line-by-line; just point at it. The right column carries the load: pass@2, the public-vs-private split, and cost-as-metric. Emphasize that the official scoring is done end-to-end by the foundation on tasks the developer never sees — this is what makes the benchmark hard to game.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Anchor early — audience now knows there’s a real result behind the method talk. Be honest about cost: this spends more than a single model call. The contribution is the architectural pattern, not the absolute leaderboard number — those move weekly. Pivot to the next slide with the question: how does an orchestration system beat a frontier model by 18 points?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reframe that unlocks the whole architecture. If they take only one thing home before the method, take this one. Concrete number to drop: of our 39 failure instances, only 21 are genuine generation failures — 17 are </a:t>
            </a:r>
            <a:r>
              <a:rPr i="1"/>
              <a:t>selection</a:t>
            </a:r>
            <a:r>
              <a:rPr/>
              <a:t> failures where a correct candidate exists in the pool but is not chosen. Set up the next slide: if the correct answer is rare, we need to (a) make sure we generate it, and (b) recognize it without majority-counting.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the audience should remember. Slow down. Use the word “operator” deliberately — frame it like classic AI search: each modality expands a different part of the hypothesis space. Concrete intuition: a model reading grids as numbers may notice arithmetic patterns vision misses; a code-writing pass forces a constructive rule the others can leave implicit. Promise the demo on slide 8.</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pass through the diagram, max 50 seconds. Audience just needs the shape. Highlight: judges see </a:t>
            </a:r>
            <a:r>
              <a:rPr i="1"/>
              <a:t>full reasoning traces</a:t>
            </a:r>
            <a:r>
              <a:rPr/>
              <a:t>, not just final answers — this is what enables minority recovery. Mention early-stop to pre-empt the obvious cost objection.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list every configuration — the point is the structure: three families crossed with three models. The “minimal prompts” bullet is a callback you’ll cash in on the negative-results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+7 number is the empirical payoff of the architecture. Say it slowly. The synthesis case is </a:t>
            </a:r>
            <a:r>
              <a:rPr i="1"/>
              <a:t>qualitatively</a:t>
            </a:r>
            <a:r>
              <a:rPr/>
              <a:t> different — it shows the system can sometimes </a:t>
            </a:r>
            <a:r>
              <a:rPr i="1"/>
              <a:t>construct</a:t>
            </a:r>
            <a:r>
              <a:rPr/>
              <a:t> a correct answer rather than just </a:t>
            </a:r>
            <a:r>
              <a:rPr i="1"/>
              <a:t>select</a:t>
            </a:r>
            <a:r>
              <a:rPr/>
              <a:t> one. Rare (n=1) but a proof-of-possibility for compositional repair. If time allows, quote the judge rationale from dfadab01:1: “Some solvers assume a stamp must fit fully. Others assume stamps are clipped at the border…” — shows the judge reasoning about disagreement explicitly.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pedagogical heart of the talk. Don’t rush. Budget 2:30.</a:t>
            </a:r>
          </a:p>
          <a:p>
            <a:pPr lvl="0" indent="0" marL="0">
              <a:buNone/>
            </a:pPr>
          </a:p>
          <a:p>
            <a:pPr lvl="0" indent="0" marL="0">
              <a:buNone/>
            </a:pPr>
            <a:r>
              <a:rPr/>
              <a:t>Script: (0:30) Show the task; let the audience attempt it mentally. (0:30) Show what TEXT candidates produce — note the dominant (wrong) interpretation. (0:30) Show what IMAGE candidates produce — note where they diverge from Text. (0:30) Show what CODE candidates produce — note any structurally different hypothesis. (0:30) Reveal the judge’s reasoning: which cluster it rejected, which minority it elevated, why pass@2 lets it hedge.</a:t>
            </a:r>
          </a:p>
          <a:p>
            <a:pPr lvl="0" indent="0" marL="0">
              <a:buNone/>
            </a:pPr>
          </a:p>
          <a:p>
            <a:pPr lvl="0" indent="0" marL="0">
              <a:buNone/>
            </a:pPr>
            <a:r>
              <a:rPr/>
              <a:t>If tight on time, drop the IMAGE step and go Text → Code → Judge — the contrast is sharpest there. End with: “This is what ‘modalities as search operators’ looks like in practice.”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oracle number (86.2%) is the most honest framing of the system’s ceiling: it says generation is in good shape and selection is the next frontier. Tie back: of the 39 failures, 17 are selection — that’s where the headroom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Most counter-intuitive findings in the paper — audiences love negative results because they save them time. Frame these as design constraints we discovered the hard way: every time we added “helpful” structure, scores dropped on the tasks that mattered.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three-bullet recap. Then invite questions. If asked about cost, jump to backup slide on cost breakdown. If asked about failure modes, jump to backup slide on failure decomposition. If asked why three judges, jump to the third backup slide.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Backup only. Skip unless asked.</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Backup only. Skip unless asked.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Backup only. Skip unless asked.</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 Id="rId3"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Modality-Driven Search with Holistic Trace Judging for ARC-AGI-2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72.9% on ARC Prize Verified — built on three frontier models, not one</a:t>
            </a:r>
            <a:br/>
            <a:br/>
            <a:r>
              <a:rPr/>
              <a:t>Johan Land</a:t>
            </a:r>
          </a:p>
        </p:txBody>
      </p:sp>
      <p:sp>
        <p:nvSpPr>
          <p:cNvPr id="4" name="Date Placeholder 3"/>
          <p:cNvSpPr>
            <a:spLocks noGrp="1"/>
          </p:cNvSpPr>
          <p:nvPr>
            <p:ph idx="10" sz="half" type="dt"/>
          </p:nvPr>
        </p:nvSpPr>
        <p:spPr/>
        <p:txBody>
          <a:bodyPr/>
          <a:lstStyle/>
          <a:p>
            <a:pPr lvl="0" indent="0" marL="0">
              <a:buNone/>
            </a:pPr>
            <a:r>
              <a:rPr/>
              <a:t>ICAIBD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ARC-AGI-2 — a brief history, and two example problems</a:t>
            </a:r>
          </a:p>
        </p:txBody>
      </p:sp>
      <p:sp>
        <p:nvSpPr>
          <p:cNvPr id="3" name="Content Placeholder 2"/>
          <p:cNvSpPr>
            <a:spLocks noGrp="1"/>
          </p:cNvSpPr>
          <p:nvPr>
            <p:ph idx="1" sz="half"/>
          </p:nvPr>
        </p:nvSpPr>
        <p:spPr/>
        <p:txBody>
          <a:bodyPr/>
          <a:lstStyle/>
          <a:p>
            <a:pPr lvl="0" indent="0" marL="0">
              <a:buNone/>
            </a:pPr>
            <a:r>
              <a:rPr b="1"/>
              <a:t>History of ARC-AGI</a:t>
            </a:r>
          </a:p>
          <a:p>
            <a:pPr lvl="0"/>
            <a:r>
              <a:rPr b="1"/>
              <a:t>2019</a:t>
            </a:r>
            <a:r>
              <a:rPr/>
              <a:t> — ARC-AGI-1 introduced (Chollet)</a:t>
            </a:r>
          </a:p>
          <a:p>
            <a:pPr lvl="0"/>
            <a:r>
              <a:rPr b="1"/>
              <a:t>2020–2023</a:t>
            </a:r>
            <a:r>
              <a:rPr/>
              <a:t> — Program synthesis era (Icecuber et al.); top scores creep up to ~20% on ARC-AGI-1</a:t>
            </a:r>
          </a:p>
          <a:p>
            <a:pPr lvl="0"/>
            <a:r>
              <a:rPr b="1"/>
              <a:t>Dec 2024</a:t>
            </a:r>
            <a:r>
              <a:rPr/>
              <a:t> — OpenAI o3 saturates ARC-AGI-1: ~76% at $200/task</a:t>
            </a:r>
          </a:p>
          <a:p>
            <a:pPr lvl="0"/>
            <a:r>
              <a:rPr b="1"/>
              <a:t>2025</a:t>
            </a:r>
            <a:r>
              <a:rPr/>
              <a:t> — ARC-AGI-2 launches: harder + cost-weighted; top frontier models ~50%</a:t>
            </a:r>
          </a:p>
          <a:p>
            <a:pPr lvl="0"/>
            <a:r>
              <a:rPr b="1"/>
              <a:t>Dec 2025</a:t>
            </a:r>
            <a:r>
              <a:rPr/>
              <a:t> — </a:t>
            </a:r>
            <a:r>
              <a:rPr b="1"/>
              <a:t>This work submitted: 72.9% on ARC-AGI-2</a:t>
            </a:r>
            <a:r>
              <a:rPr/>
              <a:t>, first verified &gt;70%</a:t>
            </a:r>
          </a:p>
          <a:p>
            <a:pPr lvl="0"/>
            <a:r>
              <a:rPr b="1"/>
              <a:t>2026</a:t>
            </a:r>
            <a:r>
              <a:rPr/>
              <a:t> — Frontier models leapfrog to ~80%+ on ARC-AGI-2 (GPT-5.5, Gemini 3 Deep Think); ARC-AGI-3 launched (top scores still &lt;1%)</a:t>
            </a:r>
          </a:p>
        </p:txBody>
      </p:sp>
      <p:pic>
        <p:nvPicPr>
          <p:cNvPr descr="figures/tasks_three_examples.png" id="0" name="Picture 1"/>
          <p:cNvPicPr>
            <a:picLocks noGrp="1" noChangeAspect="1"/>
          </p:cNvPicPr>
          <p:nvPr/>
        </p:nvPicPr>
        <p:blipFill>
          <a:blip r:embed="rId3"/>
          <a:stretch>
            <a:fillRect/>
          </a:stretch>
        </p:blipFill>
        <p:spPr bwMode="auto">
          <a:xfrm>
            <a:off x="4699000" y="1193800"/>
            <a:ext cx="39243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ARC-AGI-2? — format and evaluation</a:t>
            </a:r>
          </a:p>
        </p:txBody>
      </p:sp>
      <p:sp>
        <p:nvSpPr>
          <p:cNvPr id="3" name="Content Placeholder 2"/>
          <p:cNvSpPr>
            <a:spLocks noGrp="1"/>
          </p:cNvSpPr>
          <p:nvPr>
            <p:ph idx="1" sz="half"/>
          </p:nvPr>
        </p:nvSpPr>
        <p:spPr/>
        <p:txBody>
          <a:bodyPr/>
          <a:lstStyle/>
          <a:p>
            <a:pPr lvl="0" indent="0" marL="0">
              <a:buNone/>
            </a:pPr>
            <a:r>
              <a:rPr b="1"/>
              <a:t>What the model sees (JSON):</a:t>
            </a:r>
          </a:p>
          <a:p>
            <a:pPr lvl="0" indent="0">
              <a:buNone/>
            </a:pPr>
            <a:r>
              <a:rPr>
                <a:latin typeface="Courier"/>
              </a:rPr>
              <a:t>{
  "train": [
    {"input":  [[0,1,0],[1,0,1],[0,1,0]],
     "output": [[1,0,1],[0,1,0],[1,0,1]]},
    {"input":  [...], "output": [...]},
    ...
  ],
  "test": [
    {"input":  [[1,0,1],[0,1,0],[1,0,1]]}
  ]
}</a:t>
            </a:r>
          </a:p>
          <a:p>
            <a:pPr lvl="0" indent="0" marL="0">
              <a:buNone/>
            </a:pPr>
            <a:r>
              <a:rPr b="1"/>
              <a:t>What the model returns:</a:t>
            </a:r>
          </a:p>
          <a:p>
            <a:pPr lvl="0" indent="0">
              <a:buNone/>
            </a:pPr>
            <a:r>
              <a:rPr>
                <a:latin typeface="Courier"/>
              </a:rPr>
              <a:t>[[0,1,0],[1,0,1],[0,1,0]]</a:t>
            </a:r>
          </a:p>
        </p:txBody>
      </p:sp>
      <p:sp>
        <p:nvSpPr>
          <p:cNvPr id="4" name="Content Placeholder 3"/>
          <p:cNvSpPr>
            <a:spLocks noGrp="1"/>
          </p:cNvSpPr>
          <p:nvPr>
            <p:ph idx="2" sz="half"/>
          </p:nvPr>
        </p:nvSpPr>
        <p:spPr/>
        <p:txBody>
          <a:bodyPr/>
          <a:lstStyle/>
          <a:p>
            <a:pPr lvl="0"/>
            <a:r>
              <a:rPr b="1"/>
              <a:t>pass@2:</a:t>
            </a:r>
            <a:r>
              <a:rPr/>
              <a:t> the model is allowed </a:t>
            </a:r>
            <a:r>
              <a:rPr i="1"/>
              <a:t>two guesses</a:t>
            </a:r>
            <a:r>
              <a:rPr/>
              <a:t> per test input — scores if either matches</a:t>
            </a:r>
          </a:p>
          <a:p>
            <a:pPr lvl="0"/>
            <a:r>
              <a:rPr b="1"/>
              <a:t>Public eval</a:t>
            </a:r>
            <a:r>
              <a:rPr/>
              <a:t> for development; the </a:t>
            </a:r>
            <a:r>
              <a:rPr b="1"/>
              <a:t>private eval</a:t>
            </a:r>
            <a:r>
              <a:rPr/>
              <a:t> is the official scoring, run end-to-end by the ARC Prize foundation on tasks the developer never sees</a:t>
            </a:r>
          </a:p>
          <a:p>
            <a:pPr lvl="0"/>
            <a:r>
              <a:rPr b="1"/>
              <a:t>Cost per task</a:t>
            </a:r>
            <a:r>
              <a:rPr/>
              <a:t> (USD) is graded alongside accuracy — efficiency is a first-class metric</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headline result: +18.7 pts over the strongest standalone frontier 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System</a:t>
                      </a:r>
                    </a:p>
                  </a:txBody>
                  <a:tcPr/>
                </a:tc>
                <a:tc>
                  <a:txBody>
                    <a:bodyPr/>
                    <a:lstStyle/>
                    <a:p>
                      <a:pPr lvl="0" indent="0" marL="0" algn="r">
                        <a:buNone/>
                      </a:pPr>
                      <a:r>
                        <a:rPr/>
                        <a:t>ARC-AGI-2</a:t>
                      </a:r>
                    </a:p>
                  </a:txBody>
                  <a:tcPr/>
                </a:tc>
                <a:tc>
                  <a:txBody>
                    <a:bodyPr/>
                    <a:lstStyle/>
                    <a:p>
                      <a:pPr lvl="0" indent="0" marL="0" algn="r">
                        <a:buNone/>
                      </a:pPr>
                      <a:r>
                        <a:rPr/>
                        <a:t>Cost/Task</a:t>
                      </a:r>
                    </a:p>
                  </a:txBody>
                  <a:tcPr/>
                </a:tc>
              </a:tr>
              <a:tr h="0">
                <a:tc>
                  <a:txBody>
                    <a:bodyPr/>
                    <a:lstStyle/>
                    <a:p>
                      <a:pPr lvl="0" indent="0" marL="0">
                        <a:buNone/>
                      </a:pPr>
                      <a:r>
                        <a:rPr/>
                        <a:t>Human Panel</a:t>
                      </a:r>
                    </a:p>
                  </a:txBody>
                </a:tc>
                <a:tc>
                  <a:txBody>
                    <a:bodyPr/>
                    <a:lstStyle/>
                    <a:p>
                      <a:pPr lvl="0" indent="0" marL="0" algn="r">
                        <a:buNone/>
                      </a:pPr>
                      <a:r>
                        <a:rPr/>
                        <a:t>100.0%</a:t>
                      </a:r>
                    </a:p>
                  </a:txBody>
                </a:tc>
                <a:tc>
                  <a:txBody>
                    <a:bodyPr/>
                    <a:lstStyle/>
                    <a:p>
                      <a:pPr lvl="0" indent="0" marL="0" algn="r">
                        <a:buNone/>
                      </a:pPr>
                      <a:r>
                        <a:rPr/>
                        <a:t>$17.00</a:t>
                      </a:r>
                    </a:p>
                  </a:txBody>
                </a:tc>
              </a:tr>
              <a:tr h="0">
                <a:tc>
                  <a:txBody>
                    <a:bodyPr/>
                    <a:lstStyle/>
                    <a:p>
                      <a:pPr lvl="0" indent="0" marL="0">
                        <a:buNone/>
                      </a:pPr>
                      <a:r>
                        <a:rPr b="1"/>
                        <a:t>This work (semi-private)</a:t>
                      </a:r>
                    </a:p>
                  </a:txBody>
                </a:tc>
                <a:tc>
                  <a:txBody>
                    <a:bodyPr/>
                    <a:lstStyle/>
                    <a:p>
                      <a:pPr lvl="0" indent="0" marL="0" algn="r">
                        <a:buNone/>
                      </a:pPr>
                      <a:r>
                        <a:rPr b="1"/>
                        <a:t>72.9%</a:t>
                      </a:r>
                    </a:p>
                  </a:txBody>
                </a:tc>
                <a:tc>
                  <a:txBody>
                    <a:bodyPr/>
                    <a:lstStyle/>
                    <a:p>
                      <a:pPr lvl="0" indent="0" marL="0" algn="r">
                        <a:buNone/>
                      </a:pPr>
                      <a:r>
                        <a:rPr/>
                        <a:t>$38.99</a:t>
                      </a:r>
                    </a:p>
                  </a:txBody>
                </a:tc>
              </a:tr>
              <a:tr h="0">
                <a:tc>
                  <a:txBody>
                    <a:bodyPr/>
                    <a:lstStyle/>
                    <a:p>
                      <a:pPr lvl="0" indent="0" marL="0">
                        <a:buNone/>
                      </a:pPr>
                      <a:r>
                        <a:rPr b="1"/>
                        <a:t>This work (public eval)</a:t>
                      </a:r>
                    </a:p>
                  </a:txBody>
                </a:tc>
                <a:tc>
                  <a:txBody>
                    <a:bodyPr/>
                    <a:lstStyle/>
                    <a:p>
                      <a:pPr lvl="0" indent="0" marL="0" algn="r">
                        <a:buNone/>
                      </a:pPr>
                      <a:r>
                        <a:rPr b="1"/>
                        <a:t>76.1%</a:t>
                      </a:r>
                    </a:p>
                  </a:txBody>
                </a:tc>
                <a:tc>
                  <a:txBody>
                    <a:bodyPr/>
                    <a:lstStyle/>
                    <a:p>
                      <a:pPr lvl="0" indent="0" marL="0" algn="r">
                        <a:buNone/>
                      </a:pPr>
                      <a:r>
                        <a:rPr/>
                        <a:t>$19.69</a:t>
                      </a:r>
                    </a:p>
                  </a:txBody>
                </a:tc>
              </a:tr>
              <a:tr h="0">
                <a:tc>
                  <a:txBody>
                    <a:bodyPr/>
                    <a:lstStyle/>
                    <a:p>
                      <a:pPr lvl="0" indent="0" marL="0">
                        <a:buNone/>
                      </a:pPr>
                      <a:r>
                        <a:rPr/>
                        <a:t>GPT-5.2 Pro (High)</a:t>
                      </a:r>
                    </a:p>
                  </a:txBody>
                </a:tc>
                <a:tc>
                  <a:txBody>
                    <a:bodyPr/>
                    <a:lstStyle/>
                    <a:p>
                      <a:pPr lvl="0" indent="0" marL="0" algn="r">
                        <a:buNone/>
                      </a:pPr>
                      <a:r>
                        <a:rPr/>
                        <a:t>54.2%</a:t>
                      </a:r>
                    </a:p>
                  </a:txBody>
                </a:tc>
                <a:tc>
                  <a:txBody>
                    <a:bodyPr/>
                    <a:lstStyle/>
                    <a:p>
                      <a:pPr lvl="0" indent="0" marL="0" algn="r">
                        <a:buNone/>
                      </a:pPr>
                      <a:r>
                        <a:rPr/>
                        <a:t>$15.72</a:t>
                      </a:r>
                    </a:p>
                  </a:txBody>
                </a:tc>
              </a:tr>
              <a:tr h="0">
                <a:tc>
                  <a:txBody>
                    <a:bodyPr/>
                    <a:lstStyle/>
                    <a:p>
                      <a:pPr lvl="0" indent="0" marL="0">
                        <a:buNone/>
                      </a:pPr>
                      <a:r>
                        <a:rPr/>
                        <a:t>Gemini 3 Pro (Refine.)</a:t>
                      </a:r>
                    </a:p>
                  </a:txBody>
                </a:tc>
                <a:tc>
                  <a:txBody>
                    <a:bodyPr/>
                    <a:lstStyle/>
                    <a:p>
                      <a:pPr lvl="0" indent="0" marL="0" algn="r">
                        <a:buNone/>
                      </a:pPr>
                      <a:r>
                        <a:rPr/>
                        <a:t>54.0%</a:t>
                      </a:r>
                    </a:p>
                  </a:txBody>
                </a:tc>
                <a:tc>
                  <a:txBody>
                    <a:bodyPr/>
                    <a:lstStyle/>
                    <a:p>
                      <a:pPr lvl="0" indent="0" marL="0" algn="r">
                        <a:buNone/>
                      </a:pPr>
                      <a:r>
                        <a:rPr/>
                        <a:t>$30.57</a:t>
                      </a:r>
                    </a:p>
                  </a:txBody>
                </a:tc>
              </a:tr>
              <a:tr h="0">
                <a:tc>
                  <a:txBody>
                    <a:bodyPr/>
                    <a:lstStyle/>
                    <a:p>
                      <a:pPr lvl="0" indent="0" marL="0">
                        <a:buNone/>
                      </a:pPr>
                      <a:r>
                        <a:rPr/>
                        <a:t>Opus 4.5 (Thinking, 64K)</a:t>
                      </a:r>
                    </a:p>
                  </a:txBody>
                </a:tc>
                <a:tc>
                  <a:txBody>
                    <a:bodyPr/>
                    <a:lstStyle/>
                    <a:p>
                      <a:pPr lvl="0" indent="0" marL="0" algn="r">
                        <a:buNone/>
                      </a:pPr>
                      <a:r>
                        <a:rPr/>
                        <a:t>37.6%</a:t>
                      </a:r>
                    </a:p>
                  </a:txBody>
                </a:tc>
                <a:tc>
                  <a:txBody>
                    <a:bodyPr/>
                    <a:lstStyle/>
                    <a:p>
                      <a:pPr lvl="0" indent="0" marL="0" algn="r">
                        <a:buNone/>
                      </a:pPr>
                      <a:r>
                        <a:rPr/>
                        <a:t>$2.40</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real problem is selection, not generation</a:t>
            </a:r>
          </a:p>
        </p:txBody>
      </p:sp>
      <p:sp>
        <p:nvSpPr>
          <p:cNvPr id="3" name="Content Placeholder 2"/>
          <p:cNvSpPr>
            <a:spLocks noGrp="1"/>
          </p:cNvSpPr>
          <p:nvPr>
            <p:ph idx="1"/>
          </p:nvPr>
        </p:nvSpPr>
        <p:spPr/>
        <p:txBody>
          <a:bodyPr/>
          <a:lstStyle/>
          <a:p>
            <a:pPr lvl="0"/>
            <a:r>
              <a:rPr/>
              <a:t>LLMs produce fluent, internally coherent traces — and are still </a:t>
            </a:r>
            <a:r>
              <a:rPr b="1"/>
              <a:t>confidently wrong</a:t>
            </a:r>
          </a:p>
          <a:p>
            <a:pPr lvl="0"/>
            <a:r>
              <a:rPr/>
              <a:t>On hard tasks, models </a:t>
            </a:r>
            <a:r>
              <a:rPr b="1"/>
              <a:t>cluster around the same wrong interpretation</a:t>
            </a:r>
          </a:p>
          <a:p>
            <a:pPr lvl="0"/>
            <a:r>
              <a:rPr/>
              <a:t>⇒ majority voting / self-consistency </a:t>
            </a:r>
            <a:r>
              <a:rPr i="1"/>
              <a:t>amplifies</a:t>
            </a:r>
            <a:r>
              <a:rPr/>
              <a:t> the error</a:t>
            </a:r>
          </a:p>
          <a:p>
            <a:pPr lvl="0"/>
            <a:r>
              <a:rPr/>
              <a:t>The hard problem isn’t generating a correct candidate</a:t>
            </a:r>
          </a:p>
          <a:p>
            <a:pPr lvl="0"/>
            <a:r>
              <a:rPr/>
              <a:t>It’s </a:t>
            </a:r>
            <a:r>
              <a:rPr b="1"/>
              <a:t>recognizing</a:t>
            </a:r>
            <a:r>
              <a:rPr/>
              <a:t> one when most others disagree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Core idea: modalities as search operators</a:t>
            </a:r>
          </a:p>
        </p:txBody>
      </p:sp>
      <p:sp>
        <p:nvSpPr>
          <p:cNvPr id="3" name="Content Placeholder 2"/>
          <p:cNvSpPr>
            <a:spLocks noGrp="1"/>
          </p:cNvSpPr>
          <p:nvPr>
            <p:ph idx="1"/>
          </p:nvPr>
        </p:nvSpPr>
        <p:spPr/>
        <p:txBody>
          <a:bodyPr/>
          <a:lstStyle/>
          <a:p>
            <a:pPr lvl="0" indent="0" marL="0">
              <a:buNone/>
            </a:pPr>
            <a:r>
              <a:rPr/>
              <a:t>Same task, three representations → three different hypothesis distributions</a:t>
            </a:r>
          </a:p>
          <a:p>
            <a:pPr lvl="0"/>
            <a:r>
              <a:rPr b="1"/>
              <a:t>TEXT</a:t>
            </a:r>
            <a:r>
              <a:rPr/>
              <a:t> — model reads the grid as numbers / strings</a:t>
            </a:r>
          </a:p>
          <a:p>
            <a:pPr lvl="0"/>
            <a:r>
              <a:rPr b="1"/>
              <a:t>IMAGE</a:t>
            </a:r>
            <a:r>
              <a:rPr/>
              <a:t> — model sees a rendered PNG of the grid</a:t>
            </a:r>
          </a:p>
          <a:p>
            <a:pPr lvl="0"/>
            <a:r>
              <a:rPr b="1"/>
              <a:t>CODE</a:t>
            </a:r>
            <a:r>
              <a:rPr/>
              <a:t> — model writes Python to transform the grid</a:t>
            </a:r>
          </a:p>
          <a:p>
            <a:pPr lvl="0" indent="0" marL="0">
              <a:buNone/>
            </a:pPr>
            <a:br/>
          </a:p>
          <a:p>
            <a:pPr lvl="0"/>
            <a:r>
              <a:rPr/>
              <a:t>Each modality solves tasks the others miss</a:t>
            </a:r>
          </a:p>
          <a:p>
            <a:pPr lvl="0"/>
            <a:r>
              <a:rPr/>
              <a:t>Generate </a:t>
            </a:r>
            <a:r>
              <a:rPr b="1"/>
              <a:t>independently</a:t>
            </a:r>
            <a:r>
              <a:rPr/>
              <a:t> — don’t pool prompts, don’t share scaffolding</a:t>
            </a:r>
          </a:p>
          <a:p>
            <a:pPr lvl="0"/>
            <a:r>
              <a:rPr/>
              <a:t>Diversity at the </a:t>
            </a:r>
            <a:r>
              <a:rPr i="1"/>
              <a:t>representation</a:t>
            </a:r>
            <a:r>
              <a:rPr/>
              <a:t> level, not just temperature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Pipeline overview</a:t>
            </a:r>
          </a:p>
        </p:txBody>
      </p:sp>
      <p:pic>
        <p:nvPicPr>
          <p:cNvPr descr="figures/pipeline.png" id="0" name="Picture 1"/>
          <p:cNvPicPr>
            <a:picLocks noGrp="1" noChangeAspect="1"/>
          </p:cNvPicPr>
          <p:nvPr/>
        </p:nvPicPr>
        <p:blipFill>
          <a:blip r:embed="rId3"/>
          <a:stretch>
            <a:fillRect/>
          </a:stretch>
        </p:blipFill>
        <p:spPr bwMode="auto">
          <a:xfrm>
            <a:off x="1219200" y="1193800"/>
            <a:ext cx="25146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Generate broadly → judge → vote weighted</a:t>
            </a:r>
          </a:p>
          <a:p>
            <a:pPr lvl="0"/>
            <a:r>
              <a:rPr/>
              <a:t>Up to 29 candidates across Text / Image / Code</a:t>
            </a:r>
          </a:p>
          <a:p>
            <a:pPr lvl="0"/>
            <a:r>
              <a:rPr/>
              <a:t>3 frontier models: GPT-5.2, Gemini 3, Opus 4.5</a:t>
            </a:r>
          </a:p>
          <a:p>
            <a:pPr lvl="0"/>
            <a:r>
              <a:rPr/>
              <a:t>3 parallel judges read </a:t>
            </a:r>
            <a:r>
              <a:rPr i="1"/>
              <a:t>all</a:t>
            </a:r>
            <a:r>
              <a:rPr/>
              <a:t> traces in one long-context prompt</a:t>
            </a:r>
          </a:p>
          <a:p>
            <a:pPr lvl="0"/>
            <a:r>
              <a:rPr/>
              <a:t>Early-stop: 37/167 stopped after first probe; </a:t>
            </a:r>
            <a:r>
              <a:rPr b="1"/>
              <a:t>36 correct (97%)</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Candidate generation in practice</a:t>
            </a:r>
          </a:p>
        </p:txBody>
      </p:sp>
      <p:sp>
        <p:nvSpPr>
          <p:cNvPr id="3" name="Content Placeholder 2"/>
          <p:cNvSpPr>
            <a:spLocks noGrp="1"/>
          </p:cNvSpPr>
          <p:nvPr>
            <p:ph idx="1"/>
          </p:nvPr>
        </p:nvSpPr>
        <p:spPr/>
        <p:txBody>
          <a:bodyPr/>
          <a:lstStyle/>
          <a:p>
            <a:pPr lvl="0"/>
            <a:r>
              <a:rPr b="1"/>
              <a:t>3 models:</a:t>
            </a:r>
            <a:r>
              <a:rPr/>
              <a:t> GPT-5.2 (x-high), Gemini 3 Preview (high), Claude Opus 4.5 (long-context)</a:t>
            </a:r>
          </a:p>
          <a:p>
            <a:pPr lvl="0"/>
            <a:r>
              <a:rPr b="1"/>
              <a:t>3 modality families:</a:t>
            </a:r>
            <a:r>
              <a:rPr/>
              <a:t> Text, Image, Code</a:t>
            </a:r>
          </a:p>
          <a:p>
            <a:pPr lvl="0"/>
            <a:r>
              <a:rPr b="1"/>
              <a:t>29 candidates per task</a:t>
            </a:r>
            <a:r>
              <a:rPr/>
              <a:t> across families × configurations</a:t>
            </a:r>
          </a:p>
          <a:p>
            <a:pPr lvl="0"/>
            <a:r>
              <a:rPr b="1"/>
              <a:t>Deliberately minimal prompts</a:t>
            </a:r>
            <a:r>
              <a:rPr/>
              <a:t> in every lane </a:t>
            </a:r>
            <a:r>
              <a:rPr i="1"/>
              <a:t>(see slide 10)</a:t>
            </a:r>
          </a:p>
          <a:p>
            <a:pPr lvl="0"/>
            <a:r>
              <a:rPr/>
              <a:t>Code candidates use a sandbox REPL for iterative debugging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Holistic judging vs. majority voting</a:t>
            </a:r>
          </a:p>
        </p:txBody>
      </p:sp>
      <p:sp>
        <p:nvSpPr>
          <p:cNvPr id="3" name="Content Placeholder 2"/>
          <p:cNvSpPr>
            <a:spLocks noGrp="1"/>
          </p:cNvSpPr>
          <p:nvPr>
            <p:ph idx="1"/>
          </p:nvPr>
        </p:nvSpPr>
        <p:spPr/>
        <p:txBody>
          <a:bodyPr/>
          <a:lstStyle/>
          <a:p>
            <a:pPr lvl="0"/>
            <a:r>
              <a:rPr/>
              <a:t>Concatenate all 29 reasoning traces into one long-context judge prompt</a:t>
            </a:r>
          </a:p>
          <a:p>
            <a:pPr lvl="0"/>
            <a:r>
              <a:rPr/>
              <a:t>Each judge picks top-2 candidates </a:t>
            </a:r>
            <a:r>
              <a:rPr i="1"/>
              <a:t>and</a:t>
            </a:r>
            <a:r>
              <a:rPr/>
              <a:t> explains why other clusters are wrong</a:t>
            </a:r>
          </a:p>
          <a:p>
            <a:pPr lvl="0"/>
            <a:r>
              <a:rPr/>
              <a:t>Weighted vote across 3 judges → pass@2 guesses</a:t>
            </a:r>
          </a:p>
          <a:p>
            <a:pPr lvl="0" indent="0" marL="0">
              <a:buNone/>
            </a:pPr>
            <a:r>
              <a:rPr b="1"/>
              <a:t>Net uplift vs. majority-vote baseline: +7 instances</a:t>
            </a:r>
          </a:p>
          <a:p>
            <a:pPr lvl="0" indent="0" marL="0">
              <a:buNone/>
            </a:pPr>
            <a:r>
              <a:rPr i="1"/>
              <a:t>All 7 are minority recoveries — the correct answer wasn’t the most common candidate.</a:t>
            </a:r>
          </a:p>
          <a:p>
            <a:pPr lvl="0" indent="0" marL="0">
              <a:buNone/>
            </a:pPr>
            <a:r>
              <a:rPr/>
              <a:t>Plus </a:t>
            </a:r>
            <a:r>
              <a:rPr b="1"/>
              <a:t>+1 synthesis</a:t>
            </a:r>
            <a:r>
              <a:rPr/>
              <a:t> instance (</a:t>
            </a:r>
            <a:r>
              <a:rPr>
                <a:latin typeface="Courier"/>
              </a:rPr>
              <a:t>21897d95:2</a:t>
            </a:r>
            <a:r>
              <a:rPr/>
              <a:t>): zero correct candidates — judge recombined partial insights into a novel correct output.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End-to-end walkthrough: </a:t>
            </a:r>
            <a:r>
              <a:rPr>
                <a:latin typeface="Courier"/>
              </a:rPr>
              <a:t>d35bdbdc</a:t>
            </a:r>
          </a:p>
        </p:txBody>
      </p:sp>
      <p:sp>
        <p:nvSpPr>
          <p:cNvPr id="4" name="Text Placeholder 3"/>
          <p:cNvSpPr>
            <a:spLocks noGrp="1"/>
          </p:cNvSpPr>
          <p:nvPr>
            <p:ph idx="2" sz="half" type="body"/>
          </p:nvPr>
        </p:nvSpPr>
        <p:spPr/>
        <p:txBody>
          <a:bodyPr/>
          <a:lstStyle/>
          <a:p>
            <a:pPr lvl="0" indent="0" marL="0">
              <a:buNone/>
            </a:pPr>
            <a:r>
              <a:rPr/>
              <a:t>From 29 candidates → 2 guesses</a:t>
            </a:r>
          </a:p>
        </p:txBody>
      </p:sp>
      <p:pic>
        <p:nvPicPr>
          <p:cNvPr descr="figures/d35bdbdc_1_step_5_common.png" id="0" name="Picture 1"/>
          <p:cNvPicPr>
            <a:picLocks noGrp="1" noChangeAspect="1"/>
          </p:cNvPicPr>
          <p:nvPr/>
        </p:nvPicPr>
        <p:blipFill>
          <a:blip r:embed="rId3"/>
          <a:stretch>
            <a:fillRect/>
          </a:stretch>
        </p:blipFill>
        <p:spPr bwMode="auto">
          <a:xfrm>
            <a:off x="4660900" y="203200"/>
            <a:ext cx="2921000" cy="4381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Modality complementarity</a:t>
            </a:r>
          </a:p>
        </p:txBody>
      </p:sp>
      <p:pic>
        <p:nvPicPr>
          <p:cNvPr descr="figures/methodology_matrix.png" id="0" name="Picture 1"/>
          <p:cNvPicPr>
            <a:picLocks noGrp="1" noChangeAspect="1"/>
          </p:cNvPicPr>
          <p:nvPr/>
        </p:nvPicPr>
        <p:blipFill>
          <a:blip r:embed="rId3"/>
          <a:stretch>
            <a:fillRect/>
          </a:stretch>
        </p:blipFill>
        <p:spPr bwMode="auto">
          <a:xfrm>
            <a:off x="2082800" y="1193800"/>
            <a:ext cx="787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Pairwise non-overlap (n=130): Code solves 18 that Text misses; Image solves 13 that Text misses</a:t>
            </a:r>
          </a:p>
          <a:p>
            <a:pPr lvl="0"/>
            <a:r>
              <a:rPr/>
              <a:t>Exclusive: </a:t>
            </a:r>
            <a:r>
              <a:rPr b="1"/>
              <a:t>2 Text-only</a:t>
            </a:r>
            <a:r>
              <a:rPr/>
              <a:t>, </a:t>
            </a:r>
            <a:r>
              <a:rPr b="1"/>
              <a:t>6 Image-only</a:t>
            </a:r>
            <a:r>
              <a:rPr/>
              <a:t>, </a:t>
            </a:r>
            <a:r>
              <a:rPr b="1"/>
              <a:t>7 Code-only</a:t>
            </a:r>
          </a:p>
          <a:p>
            <a:pPr lvl="0"/>
            <a:r>
              <a:rPr/>
              <a:t>Modalities are </a:t>
            </a:r>
            <a:r>
              <a:rPr b="1"/>
              <a:t>not redundant copies</a:t>
            </a:r>
            <a:r>
              <a:rPr/>
              <a:t> of the same reasoning process</a:t>
            </a:r>
          </a:p>
          <a:p>
            <a:pPr lvl="0"/>
            <a:r>
              <a:rPr/>
              <a:t>Candidate-oracle accuracy: </a:t>
            </a:r>
            <a:r>
              <a:rPr b="1"/>
              <a:t>86.2%</a:t>
            </a:r>
            <a:r>
              <a:rPr/>
              <a:t> (correct candidate exists for 144/167)</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Negative results worth knowing</a:t>
            </a:r>
          </a:p>
        </p:txBody>
      </p:sp>
      <p:sp>
        <p:nvSpPr>
          <p:cNvPr id="3" name="Content Placeholder 2"/>
          <p:cNvSpPr>
            <a:spLocks noGrp="1"/>
          </p:cNvSpPr>
          <p:nvPr>
            <p:ph idx="1"/>
          </p:nvPr>
        </p:nvSpPr>
        <p:spPr/>
        <p:txBody>
          <a:bodyPr/>
          <a:lstStyle/>
          <a:p>
            <a:pPr lvl="0" indent="0" marL="0">
              <a:buNone/>
            </a:pPr>
            <a:r>
              <a:rPr b="1"/>
              <a:t>Prescriptive prompting degrades performance</a:t>
            </a:r>
          </a:p>
          <a:p>
            <a:pPr lvl="0" indent="0" marL="0">
              <a:buNone/>
            </a:pPr>
            <a:r>
              <a:rPr/>
              <a:t>Structured templates, CoT scaffolding, domain heuristics — all hurt on the hardest tasks. Mechanism: a </a:t>
            </a:r>
            <a:r>
              <a:rPr i="1"/>
              <a:t>compliance tax on reasoning</a:t>
            </a:r>
            <a:r>
              <a:rPr/>
              <a:t>.</a:t>
            </a:r>
          </a:p>
          <a:p>
            <a:pPr lvl="0" indent="0" marL="0">
              <a:buNone/>
            </a:pPr>
            <a:r>
              <a:rPr b="1"/>
              <a:t>Iterative refinement reduces diversity</a:t>
            </a:r>
          </a:p>
          <a:p>
            <a:pPr lvl="0" indent="0" marL="0">
              <a:buNone/>
            </a:pPr>
            <a:r>
              <a:rPr/>
              <a:t>Refining candidates against each other collapses them onto the same wrong cluster — the exact failure mode we’re trying to escape.</a:t>
            </a:r>
          </a:p>
          <a:p>
            <a:pPr lvl="0" indent="0" marL="0">
              <a:buNone/>
            </a:pPr>
            <a:r>
              <a:rPr/>
              <a:t>⇒ </a:t>
            </a:r>
            <a:r>
              <a:rPr b="1"/>
              <a:t>Final system: deliberately minimal prompts + independent generation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Takeaways</a:t>
            </a:r>
          </a:p>
        </p:txBody>
      </p:sp>
      <p:sp>
        <p:nvSpPr>
          <p:cNvPr id="3" name="Content Placeholder 2"/>
          <p:cNvSpPr>
            <a:spLocks noGrp="1"/>
          </p:cNvSpPr>
          <p:nvPr>
            <p:ph idx="1"/>
          </p:nvPr>
        </p:nvSpPr>
        <p:spPr/>
        <p:txBody>
          <a:bodyPr/>
          <a:lstStyle/>
          <a:p>
            <a:pPr lvl="0" indent="-342900" marL="342900">
              <a:buAutoNum type="arabicPeriod"/>
            </a:pPr>
            <a:r>
              <a:rPr b="1"/>
              <a:t>Modalities are search operators.</a:t>
            </a:r>
            <a:r>
              <a:rPr/>
              <a:t> Text, image, code activate different hypothesis distributions — exploit that.</a:t>
            </a:r>
          </a:p>
          <a:p>
            <a:pPr lvl="0" indent="-342900" marL="342900">
              <a:buAutoNum type="arabicPeriod"/>
            </a:pPr>
            <a:r>
              <a:rPr b="1"/>
              <a:t>Holistic judging &gt; majority voting.</a:t>
            </a:r>
            <a:r>
              <a:rPr/>
              <a:t> On hard tasks the truth is a minority hypothesis; let a long-context judge read full traces.</a:t>
            </a:r>
          </a:p>
          <a:p>
            <a:pPr lvl="0" indent="-342900" marL="342900">
              <a:buAutoNum type="arabicPeriod"/>
            </a:pPr>
            <a:r>
              <a:rPr b="1"/>
              <a:t>Less prompt structure, more representational diversity.</a:t>
            </a:r>
            <a:r>
              <a:rPr/>
              <a:t> Prescriptive scaffolding suppresses the creative leaps these tasks reward.</a:t>
            </a:r>
          </a:p>
          <a:p>
            <a:pPr lvl="0" indent="0" marL="0">
              <a:buNone/>
            </a:pPr>
            <a:r>
              <a:rPr/>
              <a:t>Code: </a:t>
            </a:r>
            <a:r>
              <a:rPr>
                <a:latin typeface="Courier"/>
              </a:rPr>
              <a:t>github.com/beetree/ARC-AGI</a:t>
            </a:r>
            <a:r>
              <a:rPr/>
              <a:t> • Paper QR on title slide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Backup: cost breakdown</a:t>
            </a:r>
          </a:p>
        </p:txBody>
      </p:sp>
      <p:sp>
        <p:nvSpPr>
          <p:cNvPr id="3" name="Content Placeholder 2"/>
          <p:cNvSpPr>
            <a:spLocks noGrp="1"/>
          </p:cNvSpPr>
          <p:nvPr>
            <p:ph idx="1"/>
          </p:nvPr>
        </p:nvSpPr>
        <p:spPr/>
        <p:txBody>
          <a:bodyPr/>
          <a:lstStyle/>
          <a:p>
            <a:pPr lvl="0"/>
            <a:r>
              <a:rPr b="1"/>
              <a:t>Public-eval cost is the representative number: $19.69/task</a:t>
            </a:r>
          </a:p>
          <a:p>
            <a:pPr lvl="0"/>
            <a:r>
              <a:rPr/>
              <a:t>Semi-private $38.99/task inflated by GPT-5.2 API instability (84% failure rate, 2,216/14,106 attempts succeeded)</a:t>
            </a:r>
          </a:p>
          <a:p>
            <a:pPr lvl="0"/>
            <a:r>
              <a:rPr/>
              <a:t>Tool-integrated code generation is the largest line item</a:t>
            </a:r>
          </a:p>
          <a:p>
            <a:pPr lvl="0"/>
            <a:r>
              <a:rPr/>
              <a:t>ZDR mode used in semi-private verification disables tool calls → both lower accuracy and altered cost profile</a:t>
            </a:r>
          </a:p>
          <a:p>
            <a:pPr lvl="0"/>
            <a:r>
              <a:rPr/>
              <a:t>ARC-AGI-1 on the same system: 94.5% at $11.40/task — easier tasks early-exit cheaply</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Backup: failure decomposition (167 instances)</a:t>
            </a:r>
          </a:p>
        </p:txBody>
      </p:sp>
      <p:sp>
        <p:nvSpPr>
          <p:cNvPr id="3" name="Content Placeholder 2"/>
          <p:cNvSpPr>
            <a:spLocks noGrp="1"/>
          </p:cNvSpPr>
          <p:nvPr>
            <p:ph idx="1"/>
          </p:nvPr>
        </p:nvSpPr>
        <p:spPr/>
        <p:txBody>
          <a:bodyPr/>
          <a:lstStyle/>
          <a:p>
            <a:pPr lvl="0"/>
            <a:r>
              <a:rPr b="1"/>
              <a:t>128 solved (76.6%)</a:t>
            </a:r>
          </a:p>
          <a:p>
            <a:pPr lvl="0"/>
            <a:r>
              <a:rPr/>
              <a:t>21 generation failures (no correct candidate in pool)</a:t>
            </a:r>
          </a:p>
          <a:p>
            <a:pPr lvl="0"/>
            <a:r>
              <a:rPr/>
              <a:t>1 early-stop failure (</a:t>
            </a:r>
            <a:r>
              <a:rPr>
                <a:latin typeface="Courier"/>
              </a:rPr>
              <a:t>dbff022c:1</a:t>
            </a:r>
            <a:r>
              <a:rPr/>
              <a:t> — extreme groupthink on a legend ambiguity)</a:t>
            </a:r>
          </a:p>
          <a:p>
            <a:pPr lvl="0"/>
            <a:r>
              <a:rPr/>
              <a:t>17 </a:t>
            </a:r>
            <a:r>
              <a:rPr b="1"/>
              <a:t>selection</a:t>
            </a:r>
            <a:r>
              <a:rPr/>
              <a:t> failures (correct candidate exists, judge missed it)</a:t>
            </a:r>
          </a:p>
          <a:p>
            <a:pPr lvl="0"/>
            <a:r>
              <a:rPr/>
              <a:t>1 synthesis success (</a:t>
            </a:r>
            <a:r>
              <a:rPr>
                <a:latin typeface="Courier"/>
              </a:rPr>
              <a:t>21897d95:2</a:t>
            </a:r>
            <a:r>
              <a:rPr/>
              <a:t>)</a:t>
            </a:r>
          </a:p>
          <a:p>
            <a:pPr lvl="0" indent="0" marL="0">
              <a:buNone/>
            </a:pPr>
            <a:r>
              <a:rPr i="1"/>
              <a:t>Most future headroom is in selection, not generation.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Backup: why three judges?</a:t>
            </a:r>
          </a:p>
        </p:txBody>
      </p:sp>
      <p:sp>
        <p:nvSpPr>
          <p:cNvPr id="3" name="Content Placeholder 2"/>
          <p:cNvSpPr>
            <a:spLocks noGrp="1"/>
          </p:cNvSpPr>
          <p:nvPr>
            <p:ph idx="1"/>
          </p:nvPr>
        </p:nvSpPr>
        <p:spPr/>
        <p:txBody>
          <a:bodyPr/>
          <a:lstStyle/>
          <a:p>
            <a:pPr lvl="0"/>
            <a:r>
              <a:rPr/>
              <a:t>Single judge is biased toward its own prior</a:t>
            </a:r>
          </a:p>
          <a:p>
            <a:pPr lvl="0"/>
            <a:r>
              <a:rPr/>
              <a:t>3 parallel judges + weighted scoring (2 pts first, 1 pt second) hedges </a:t>
            </a:r>
            <a:r>
              <a:rPr i="1"/>
              <a:t>within</a:t>
            </a:r>
            <a:r>
              <a:rPr/>
              <a:t> the judging step</a:t>
            </a:r>
          </a:p>
          <a:p>
            <a:pPr lvl="0"/>
            <a:r>
              <a:rPr/>
              <a:t>Pass@2 format lets the final output also hedge across two interpretations when judges disagree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Modality-Driven Search with Holistic Trace Judging for ARC-AGI-2</dc:title>
  <dc:creator>Johan Land</dc:creator>
  <cp:keywords/>
  <dcterms:created xsi:type="dcterms:W3CDTF">2026-05-25T16:54:33Z</dcterms:created>
  <dcterms:modified xsi:type="dcterms:W3CDTF">2026-05-25T16:54:33Z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ICAIBD 2026</vt:lpwstr>
  </property>
  <property fmtid="{D5CDD505-2E9C-101B-9397-08002B2CF9AE}" pid="3" name="subtitle">
    <vt:lpwstr>72.9% on ARC Prize Verified — built on three frontier models, not one</vt:lpwstr>
  </property>
</Properties>
</file>